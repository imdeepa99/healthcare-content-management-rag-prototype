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8" r:id="rId1"/>
  </p:sldMasterIdLst>
  <p:sldIdLst>
    <p:sldId id="256" r:id="rId2"/>
    <p:sldId id="257" r:id="rId3"/>
    <p:sldId id="270" r:id="rId4"/>
    <p:sldId id="260" r:id="rId5"/>
    <p:sldId id="261" r:id="rId6"/>
    <p:sldId id="269" r:id="rId7"/>
    <p:sldId id="262" r:id="rId8"/>
    <p:sldId id="268" r:id="rId9"/>
    <p:sldId id="264" r:id="rId10"/>
    <p:sldId id="267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9B964B0-BD1D-57A9-3D88-88E61B4BAED6}" v="317" dt="2026-07-21T18:02:29.11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Relationship Id="rId4" Type="http://schemas.openxmlformats.org/officeDocument/2006/relationships/image" Target="../media/image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073BD57-9B78-49D2-A91A-89D5F0FCBB20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44F4D0B-3991-4575-8676-3E3116DBDC9A}">
      <dgm:prSet/>
      <dgm:spPr/>
      <dgm:t>
        <a:bodyPr/>
        <a:lstStyle/>
        <a:p>
          <a:r>
            <a:rPr lang="en-US"/>
            <a:t>✔ Understands natural language in healthcare documents</a:t>
          </a:r>
        </a:p>
      </dgm:t>
    </dgm:pt>
    <dgm:pt modelId="{823140BE-3548-485F-B8C8-FA04AB7F3350}" type="parTrans" cxnId="{1FBD263C-7267-4BAC-8E4A-0E16F68FB355}">
      <dgm:prSet/>
      <dgm:spPr/>
      <dgm:t>
        <a:bodyPr/>
        <a:lstStyle/>
        <a:p>
          <a:endParaRPr lang="en-US"/>
        </a:p>
      </dgm:t>
    </dgm:pt>
    <dgm:pt modelId="{B4B2E964-1BD7-45BD-BE37-ADA20E582EB0}" type="sibTrans" cxnId="{1FBD263C-7267-4BAC-8E4A-0E16F68FB355}">
      <dgm:prSet/>
      <dgm:spPr/>
      <dgm:t>
        <a:bodyPr/>
        <a:lstStyle/>
        <a:p>
          <a:endParaRPr lang="en-US"/>
        </a:p>
      </dgm:t>
    </dgm:pt>
    <dgm:pt modelId="{4E16D553-3D76-40C4-AD62-92F705744652}">
      <dgm:prSet/>
      <dgm:spPr/>
      <dgm:t>
        <a:bodyPr/>
        <a:lstStyle/>
        <a:p>
          <a:r>
            <a:rPr lang="en-US"/>
            <a:t>✔ Generates summaries and answers to user questions</a:t>
          </a:r>
        </a:p>
      </dgm:t>
    </dgm:pt>
    <dgm:pt modelId="{49E188BC-71F4-486F-B2DC-D0519B187B69}" type="parTrans" cxnId="{8C191854-F96A-4367-8264-F96C772CE449}">
      <dgm:prSet/>
      <dgm:spPr/>
      <dgm:t>
        <a:bodyPr/>
        <a:lstStyle/>
        <a:p>
          <a:endParaRPr lang="en-US"/>
        </a:p>
      </dgm:t>
    </dgm:pt>
    <dgm:pt modelId="{34573357-D896-409C-B416-1337724CA073}" type="sibTrans" cxnId="{8C191854-F96A-4367-8264-F96C772CE449}">
      <dgm:prSet/>
      <dgm:spPr/>
      <dgm:t>
        <a:bodyPr/>
        <a:lstStyle/>
        <a:p>
          <a:endParaRPr lang="en-US"/>
        </a:p>
      </dgm:t>
    </dgm:pt>
    <dgm:pt modelId="{0A105B00-574C-485A-92D5-FE26B118EE9C}">
      <dgm:prSet/>
      <dgm:spPr/>
      <dgm:t>
        <a:bodyPr/>
        <a:lstStyle/>
        <a:p>
          <a:r>
            <a:rPr lang="en-US"/>
            <a:t>✔ Retrieves relevant information from uploaded documents</a:t>
          </a:r>
        </a:p>
      </dgm:t>
    </dgm:pt>
    <dgm:pt modelId="{DAF99CEB-4B1F-4F9E-86DF-82C797C9745F}" type="parTrans" cxnId="{2026A057-5408-4896-B5B4-7511DF4921F0}">
      <dgm:prSet/>
      <dgm:spPr/>
      <dgm:t>
        <a:bodyPr/>
        <a:lstStyle/>
        <a:p>
          <a:endParaRPr lang="en-US"/>
        </a:p>
      </dgm:t>
    </dgm:pt>
    <dgm:pt modelId="{D9EA1369-A6D7-425F-8298-5D5A7071F08C}" type="sibTrans" cxnId="{2026A057-5408-4896-B5B4-7511DF4921F0}">
      <dgm:prSet/>
      <dgm:spPr/>
      <dgm:t>
        <a:bodyPr/>
        <a:lstStyle/>
        <a:p>
          <a:endParaRPr lang="en-US"/>
        </a:p>
      </dgm:t>
    </dgm:pt>
    <dgm:pt modelId="{86289573-EF3F-4A3F-8066-E520CBDDD303}">
      <dgm:prSet/>
      <dgm:spPr/>
      <dgm:t>
        <a:bodyPr/>
        <a:lstStyle/>
        <a:p>
          <a:r>
            <a:rPr lang="en-US"/>
            <a:t>✔ Produces evidence-based responses instead of relying only on general AI knowledge</a:t>
          </a:r>
        </a:p>
      </dgm:t>
    </dgm:pt>
    <dgm:pt modelId="{9D5907E3-BD2F-42F9-9118-4CEBF999D799}" type="parTrans" cxnId="{34A6ECD7-9E56-428B-9F49-CA92454D584B}">
      <dgm:prSet/>
      <dgm:spPr/>
      <dgm:t>
        <a:bodyPr/>
        <a:lstStyle/>
        <a:p>
          <a:endParaRPr lang="en-US"/>
        </a:p>
      </dgm:t>
    </dgm:pt>
    <dgm:pt modelId="{4F5A9039-723A-4A3D-A8D2-2FE3192EE9F9}" type="sibTrans" cxnId="{34A6ECD7-9E56-428B-9F49-CA92454D584B}">
      <dgm:prSet/>
      <dgm:spPr/>
      <dgm:t>
        <a:bodyPr/>
        <a:lstStyle/>
        <a:p>
          <a:endParaRPr lang="en-US"/>
        </a:p>
      </dgm:t>
    </dgm:pt>
    <dgm:pt modelId="{A3570455-CA46-49C3-83E2-E1B3EC2BE884}" type="pres">
      <dgm:prSet presAssocID="{8073BD57-9B78-49D2-A91A-89D5F0FCBB20}" presName="root" presStyleCnt="0">
        <dgm:presLayoutVars>
          <dgm:dir/>
          <dgm:resizeHandles val="exact"/>
        </dgm:presLayoutVars>
      </dgm:prSet>
      <dgm:spPr/>
    </dgm:pt>
    <dgm:pt modelId="{9BA9AB07-5528-4B9F-888C-E2D6E3D79870}" type="pres">
      <dgm:prSet presAssocID="{E44F4D0B-3991-4575-8676-3E3116DBDC9A}" presName="compNode" presStyleCnt="0"/>
      <dgm:spPr/>
    </dgm:pt>
    <dgm:pt modelId="{1F385710-C9E3-4E3B-93C7-E1BDB2604AC4}" type="pres">
      <dgm:prSet presAssocID="{E44F4D0B-3991-4575-8676-3E3116DBDC9A}" presName="bgRect" presStyleLbl="bgShp" presStyleIdx="0" presStyleCnt="4"/>
      <dgm:spPr/>
    </dgm:pt>
    <dgm:pt modelId="{451D36DB-6CFA-40BD-8B46-0BE9D8C94CC2}" type="pres">
      <dgm:prSet presAssocID="{E44F4D0B-3991-4575-8676-3E3116DBDC9A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39B3DC7C-326B-41C2-9430-6A9AE25BAEEF}" type="pres">
      <dgm:prSet presAssocID="{E44F4D0B-3991-4575-8676-3E3116DBDC9A}" presName="spaceRect" presStyleCnt="0"/>
      <dgm:spPr/>
    </dgm:pt>
    <dgm:pt modelId="{930B11A5-DECC-4F52-BC21-B6A6C7F78FCA}" type="pres">
      <dgm:prSet presAssocID="{E44F4D0B-3991-4575-8676-3E3116DBDC9A}" presName="parTx" presStyleLbl="revTx" presStyleIdx="0" presStyleCnt="4">
        <dgm:presLayoutVars>
          <dgm:chMax val="0"/>
          <dgm:chPref val="0"/>
        </dgm:presLayoutVars>
      </dgm:prSet>
      <dgm:spPr/>
    </dgm:pt>
    <dgm:pt modelId="{BE3BD323-CBDF-4E9C-B563-1C5D236CE09B}" type="pres">
      <dgm:prSet presAssocID="{B4B2E964-1BD7-45BD-BE37-ADA20E582EB0}" presName="sibTrans" presStyleCnt="0"/>
      <dgm:spPr/>
    </dgm:pt>
    <dgm:pt modelId="{C8F44EA8-AADB-43B4-8108-AC2CC20076C9}" type="pres">
      <dgm:prSet presAssocID="{4E16D553-3D76-40C4-AD62-92F705744652}" presName="compNode" presStyleCnt="0"/>
      <dgm:spPr/>
    </dgm:pt>
    <dgm:pt modelId="{D94AF137-1F4F-468D-A6F3-6254095EDE80}" type="pres">
      <dgm:prSet presAssocID="{4E16D553-3D76-40C4-AD62-92F705744652}" presName="bgRect" presStyleLbl="bgShp" presStyleIdx="1" presStyleCnt="4"/>
      <dgm:spPr/>
    </dgm:pt>
    <dgm:pt modelId="{9DB23A9F-8B39-4B1E-A4EC-6434A832A198}" type="pres">
      <dgm:prSet presAssocID="{4E16D553-3D76-40C4-AD62-92F705744652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11FA5C8B-18CD-4969-A985-011D6C73DDB2}" type="pres">
      <dgm:prSet presAssocID="{4E16D553-3D76-40C4-AD62-92F705744652}" presName="spaceRect" presStyleCnt="0"/>
      <dgm:spPr/>
    </dgm:pt>
    <dgm:pt modelId="{B0834A6F-9E20-49B9-B785-34CE3B566002}" type="pres">
      <dgm:prSet presAssocID="{4E16D553-3D76-40C4-AD62-92F705744652}" presName="parTx" presStyleLbl="revTx" presStyleIdx="1" presStyleCnt="4">
        <dgm:presLayoutVars>
          <dgm:chMax val="0"/>
          <dgm:chPref val="0"/>
        </dgm:presLayoutVars>
      </dgm:prSet>
      <dgm:spPr/>
    </dgm:pt>
    <dgm:pt modelId="{047F0049-161C-4EEC-8BFF-B5CEF63D4B03}" type="pres">
      <dgm:prSet presAssocID="{34573357-D896-409C-B416-1337724CA073}" presName="sibTrans" presStyleCnt="0"/>
      <dgm:spPr/>
    </dgm:pt>
    <dgm:pt modelId="{8A0D1D15-4916-4403-8FC2-865ADF96428D}" type="pres">
      <dgm:prSet presAssocID="{0A105B00-574C-485A-92D5-FE26B118EE9C}" presName="compNode" presStyleCnt="0"/>
      <dgm:spPr/>
    </dgm:pt>
    <dgm:pt modelId="{886F17B5-1C9A-4C6E-84C6-D7624DDEB1E6}" type="pres">
      <dgm:prSet presAssocID="{0A105B00-574C-485A-92D5-FE26B118EE9C}" presName="bgRect" presStyleLbl="bgShp" presStyleIdx="2" presStyleCnt="4"/>
      <dgm:spPr/>
    </dgm:pt>
    <dgm:pt modelId="{E25CC338-4EF1-4694-A721-583303F09EE4}" type="pres">
      <dgm:prSet presAssocID="{0A105B00-574C-485A-92D5-FE26B118EE9C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90C6105B-0535-4ABA-ABB1-23999199A205}" type="pres">
      <dgm:prSet presAssocID="{0A105B00-574C-485A-92D5-FE26B118EE9C}" presName="spaceRect" presStyleCnt="0"/>
      <dgm:spPr/>
    </dgm:pt>
    <dgm:pt modelId="{05D5F1B9-418B-4547-84DA-2A90CB27A366}" type="pres">
      <dgm:prSet presAssocID="{0A105B00-574C-485A-92D5-FE26B118EE9C}" presName="parTx" presStyleLbl="revTx" presStyleIdx="2" presStyleCnt="4">
        <dgm:presLayoutVars>
          <dgm:chMax val="0"/>
          <dgm:chPref val="0"/>
        </dgm:presLayoutVars>
      </dgm:prSet>
      <dgm:spPr/>
    </dgm:pt>
    <dgm:pt modelId="{20E7041E-17B3-4078-8261-A8C8483A4335}" type="pres">
      <dgm:prSet presAssocID="{D9EA1369-A6D7-425F-8298-5D5A7071F08C}" presName="sibTrans" presStyleCnt="0"/>
      <dgm:spPr/>
    </dgm:pt>
    <dgm:pt modelId="{9517FDE0-893B-4C5E-8AED-C5F8A416E38C}" type="pres">
      <dgm:prSet presAssocID="{86289573-EF3F-4A3F-8066-E520CBDDD303}" presName="compNode" presStyleCnt="0"/>
      <dgm:spPr/>
    </dgm:pt>
    <dgm:pt modelId="{49707BDB-BFC3-421F-84B5-B2E31BAB7690}" type="pres">
      <dgm:prSet presAssocID="{86289573-EF3F-4A3F-8066-E520CBDDD303}" presName="bgRect" presStyleLbl="bgShp" presStyleIdx="3" presStyleCnt="4"/>
      <dgm:spPr/>
    </dgm:pt>
    <dgm:pt modelId="{4EDE4EEF-DBCD-48E3-A96F-7383F2C3891E}" type="pres">
      <dgm:prSet presAssocID="{86289573-EF3F-4A3F-8066-E520CBDDD303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34EDB7F9-8BA2-4525-AAAF-D7AD300A029E}" type="pres">
      <dgm:prSet presAssocID="{86289573-EF3F-4A3F-8066-E520CBDDD303}" presName="spaceRect" presStyleCnt="0"/>
      <dgm:spPr/>
    </dgm:pt>
    <dgm:pt modelId="{F3E83A16-3CEB-4352-B3FF-E4083912EB3B}" type="pres">
      <dgm:prSet presAssocID="{86289573-EF3F-4A3F-8066-E520CBDDD303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3ABAE600-5497-4D3C-8DED-5320178F4833}" type="presOf" srcId="{8073BD57-9B78-49D2-A91A-89D5F0FCBB20}" destId="{A3570455-CA46-49C3-83E2-E1B3EC2BE884}" srcOrd="0" destOrd="0" presId="urn:microsoft.com/office/officeart/2018/2/layout/IconVerticalSolidList"/>
    <dgm:cxn modelId="{1FBD263C-7267-4BAC-8E4A-0E16F68FB355}" srcId="{8073BD57-9B78-49D2-A91A-89D5F0FCBB20}" destId="{E44F4D0B-3991-4575-8676-3E3116DBDC9A}" srcOrd="0" destOrd="0" parTransId="{823140BE-3548-485F-B8C8-FA04AB7F3350}" sibTransId="{B4B2E964-1BD7-45BD-BE37-ADA20E582EB0}"/>
    <dgm:cxn modelId="{8C191854-F96A-4367-8264-F96C772CE449}" srcId="{8073BD57-9B78-49D2-A91A-89D5F0FCBB20}" destId="{4E16D553-3D76-40C4-AD62-92F705744652}" srcOrd="1" destOrd="0" parTransId="{49E188BC-71F4-486F-B2DC-D0519B187B69}" sibTransId="{34573357-D896-409C-B416-1337724CA073}"/>
    <dgm:cxn modelId="{0AEA3E54-DB7F-445F-B244-D9E2219297D7}" type="presOf" srcId="{E44F4D0B-3991-4575-8676-3E3116DBDC9A}" destId="{930B11A5-DECC-4F52-BC21-B6A6C7F78FCA}" srcOrd="0" destOrd="0" presId="urn:microsoft.com/office/officeart/2018/2/layout/IconVerticalSolidList"/>
    <dgm:cxn modelId="{2026A057-5408-4896-B5B4-7511DF4921F0}" srcId="{8073BD57-9B78-49D2-A91A-89D5F0FCBB20}" destId="{0A105B00-574C-485A-92D5-FE26B118EE9C}" srcOrd="2" destOrd="0" parTransId="{DAF99CEB-4B1F-4F9E-86DF-82C797C9745F}" sibTransId="{D9EA1369-A6D7-425F-8298-5D5A7071F08C}"/>
    <dgm:cxn modelId="{77A99186-31D7-42BE-882E-C148068C2817}" type="presOf" srcId="{86289573-EF3F-4A3F-8066-E520CBDDD303}" destId="{F3E83A16-3CEB-4352-B3FF-E4083912EB3B}" srcOrd="0" destOrd="0" presId="urn:microsoft.com/office/officeart/2018/2/layout/IconVerticalSolidList"/>
    <dgm:cxn modelId="{002C129D-2091-4E67-A9EC-09D2575F2F9D}" type="presOf" srcId="{4E16D553-3D76-40C4-AD62-92F705744652}" destId="{B0834A6F-9E20-49B9-B785-34CE3B566002}" srcOrd="0" destOrd="0" presId="urn:microsoft.com/office/officeart/2018/2/layout/IconVerticalSolidList"/>
    <dgm:cxn modelId="{34A6ECD7-9E56-428B-9F49-CA92454D584B}" srcId="{8073BD57-9B78-49D2-A91A-89D5F0FCBB20}" destId="{86289573-EF3F-4A3F-8066-E520CBDDD303}" srcOrd="3" destOrd="0" parTransId="{9D5907E3-BD2F-42F9-9118-4CEBF999D799}" sibTransId="{4F5A9039-723A-4A3D-A8D2-2FE3192EE9F9}"/>
    <dgm:cxn modelId="{69FB72D8-7C1A-4A80-9C67-22A74B019125}" type="presOf" srcId="{0A105B00-574C-485A-92D5-FE26B118EE9C}" destId="{05D5F1B9-418B-4547-84DA-2A90CB27A366}" srcOrd="0" destOrd="0" presId="urn:microsoft.com/office/officeart/2018/2/layout/IconVerticalSolidList"/>
    <dgm:cxn modelId="{7033E460-963F-4456-A980-1DD55FD63C0E}" type="presParOf" srcId="{A3570455-CA46-49C3-83E2-E1B3EC2BE884}" destId="{9BA9AB07-5528-4B9F-888C-E2D6E3D79870}" srcOrd="0" destOrd="0" presId="urn:microsoft.com/office/officeart/2018/2/layout/IconVerticalSolidList"/>
    <dgm:cxn modelId="{441A2814-FDB5-4297-83F0-C554D481598D}" type="presParOf" srcId="{9BA9AB07-5528-4B9F-888C-E2D6E3D79870}" destId="{1F385710-C9E3-4E3B-93C7-E1BDB2604AC4}" srcOrd="0" destOrd="0" presId="urn:microsoft.com/office/officeart/2018/2/layout/IconVerticalSolidList"/>
    <dgm:cxn modelId="{B6049E32-B5D6-49FC-9E19-753DFF83E594}" type="presParOf" srcId="{9BA9AB07-5528-4B9F-888C-E2D6E3D79870}" destId="{451D36DB-6CFA-40BD-8B46-0BE9D8C94CC2}" srcOrd="1" destOrd="0" presId="urn:microsoft.com/office/officeart/2018/2/layout/IconVerticalSolidList"/>
    <dgm:cxn modelId="{A8C2C298-FE71-4323-9C26-DF543FEA8E61}" type="presParOf" srcId="{9BA9AB07-5528-4B9F-888C-E2D6E3D79870}" destId="{39B3DC7C-326B-41C2-9430-6A9AE25BAEEF}" srcOrd="2" destOrd="0" presId="urn:microsoft.com/office/officeart/2018/2/layout/IconVerticalSolidList"/>
    <dgm:cxn modelId="{E1C94AC0-167A-4B37-8FAB-6A9E80907EA3}" type="presParOf" srcId="{9BA9AB07-5528-4B9F-888C-E2D6E3D79870}" destId="{930B11A5-DECC-4F52-BC21-B6A6C7F78FCA}" srcOrd="3" destOrd="0" presId="urn:microsoft.com/office/officeart/2018/2/layout/IconVerticalSolidList"/>
    <dgm:cxn modelId="{BF1E77EC-D9A4-44D2-82F4-145B2C34EB71}" type="presParOf" srcId="{A3570455-CA46-49C3-83E2-E1B3EC2BE884}" destId="{BE3BD323-CBDF-4E9C-B563-1C5D236CE09B}" srcOrd="1" destOrd="0" presId="urn:microsoft.com/office/officeart/2018/2/layout/IconVerticalSolidList"/>
    <dgm:cxn modelId="{68E1C4BB-ED7D-46DA-B78C-C713CF1490E0}" type="presParOf" srcId="{A3570455-CA46-49C3-83E2-E1B3EC2BE884}" destId="{C8F44EA8-AADB-43B4-8108-AC2CC20076C9}" srcOrd="2" destOrd="0" presId="urn:microsoft.com/office/officeart/2018/2/layout/IconVerticalSolidList"/>
    <dgm:cxn modelId="{60222E83-B4FF-47FC-97BF-B55D4896550D}" type="presParOf" srcId="{C8F44EA8-AADB-43B4-8108-AC2CC20076C9}" destId="{D94AF137-1F4F-468D-A6F3-6254095EDE80}" srcOrd="0" destOrd="0" presId="urn:microsoft.com/office/officeart/2018/2/layout/IconVerticalSolidList"/>
    <dgm:cxn modelId="{616423ED-E68F-4EC8-A04A-DB58AC949686}" type="presParOf" srcId="{C8F44EA8-AADB-43B4-8108-AC2CC20076C9}" destId="{9DB23A9F-8B39-4B1E-A4EC-6434A832A198}" srcOrd="1" destOrd="0" presId="urn:microsoft.com/office/officeart/2018/2/layout/IconVerticalSolidList"/>
    <dgm:cxn modelId="{DD239A72-CFDC-4291-8E18-93941752155C}" type="presParOf" srcId="{C8F44EA8-AADB-43B4-8108-AC2CC20076C9}" destId="{11FA5C8B-18CD-4969-A985-011D6C73DDB2}" srcOrd="2" destOrd="0" presId="urn:microsoft.com/office/officeart/2018/2/layout/IconVerticalSolidList"/>
    <dgm:cxn modelId="{4CE51EED-A087-43F1-B2D1-58850F43A9CF}" type="presParOf" srcId="{C8F44EA8-AADB-43B4-8108-AC2CC20076C9}" destId="{B0834A6F-9E20-49B9-B785-34CE3B566002}" srcOrd="3" destOrd="0" presId="urn:microsoft.com/office/officeart/2018/2/layout/IconVerticalSolidList"/>
    <dgm:cxn modelId="{25E052C5-92D6-43EE-B9FE-DE8A686AA0A3}" type="presParOf" srcId="{A3570455-CA46-49C3-83E2-E1B3EC2BE884}" destId="{047F0049-161C-4EEC-8BFF-B5CEF63D4B03}" srcOrd="3" destOrd="0" presId="urn:microsoft.com/office/officeart/2018/2/layout/IconVerticalSolidList"/>
    <dgm:cxn modelId="{D25522A7-1F4C-4483-BE57-DCC6125E12EC}" type="presParOf" srcId="{A3570455-CA46-49C3-83E2-E1B3EC2BE884}" destId="{8A0D1D15-4916-4403-8FC2-865ADF96428D}" srcOrd="4" destOrd="0" presId="urn:microsoft.com/office/officeart/2018/2/layout/IconVerticalSolidList"/>
    <dgm:cxn modelId="{C142DC6B-2B83-40DD-95C5-3FFE97EF9F69}" type="presParOf" srcId="{8A0D1D15-4916-4403-8FC2-865ADF96428D}" destId="{886F17B5-1C9A-4C6E-84C6-D7624DDEB1E6}" srcOrd="0" destOrd="0" presId="urn:microsoft.com/office/officeart/2018/2/layout/IconVerticalSolidList"/>
    <dgm:cxn modelId="{3D1A34A9-8864-40C3-B9AD-C9F00BF2D525}" type="presParOf" srcId="{8A0D1D15-4916-4403-8FC2-865ADF96428D}" destId="{E25CC338-4EF1-4694-A721-583303F09EE4}" srcOrd="1" destOrd="0" presId="urn:microsoft.com/office/officeart/2018/2/layout/IconVerticalSolidList"/>
    <dgm:cxn modelId="{69471F86-60C9-4EE2-9E32-B824C238446E}" type="presParOf" srcId="{8A0D1D15-4916-4403-8FC2-865ADF96428D}" destId="{90C6105B-0535-4ABA-ABB1-23999199A205}" srcOrd="2" destOrd="0" presId="urn:microsoft.com/office/officeart/2018/2/layout/IconVerticalSolidList"/>
    <dgm:cxn modelId="{DD2BA087-6BB9-4BC3-8B7C-E9FFEF947B22}" type="presParOf" srcId="{8A0D1D15-4916-4403-8FC2-865ADF96428D}" destId="{05D5F1B9-418B-4547-84DA-2A90CB27A366}" srcOrd="3" destOrd="0" presId="urn:microsoft.com/office/officeart/2018/2/layout/IconVerticalSolidList"/>
    <dgm:cxn modelId="{CB014410-30AC-4F88-BAB5-7C7603067366}" type="presParOf" srcId="{A3570455-CA46-49C3-83E2-E1B3EC2BE884}" destId="{20E7041E-17B3-4078-8261-A8C8483A4335}" srcOrd="5" destOrd="0" presId="urn:microsoft.com/office/officeart/2018/2/layout/IconVerticalSolidList"/>
    <dgm:cxn modelId="{2F381DD5-2839-4833-98AB-C21AED9079D4}" type="presParOf" srcId="{A3570455-CA46-49C3-83E2-E1B3EC2BE884}" destId="{9517FDE0-893B-4C5E-8AED-C5F8A416E38C}" srcOrd="6" destOrd="0" presId="urn:microsoft.com/office/officeart/2018/2/layout/IconVerticalSolidList"/>
    <dgm:cxn modelId="{27428FEE-41ED-4FE0-9B85-E7B0A5A7771D}" type="presParOf" srcId="{9517FDE0-893B-4C5E-8AED-C5F8A416E38C}" destId="{49707BDB-BFC3-421F-84B5-B2E31BAB7690}" srcOrd="0" destOrd="0" presId="urn:microsoft.com/office/officeart/2018/2/layout/IconVerticalSolidList"/>
    <dgm:cxn modelId="{9CF89DC6-1A98-4925-91F0-28E1888CB662}" type="presParOf" srcId="{9517FDE0-893B-4C5E-8AED-C5F8A416E38C}" destId="{4EDE4EEF-DBCD-48E3-A96F-7383F2C3891E}" srcOrd="1" destOrd="0" presId="urn:microsoft.com/office/officeart/2018/2/layout/IconVerticalSolidList"/>
    <dgm:cxn modelId="{396BFA3C-F99B-4FCA-85EB-64DB74E8FAC6}" type="presParOf" srcId="{9517FDE0-893B-4C5E-8AED-C5F8A416E38C}" destId="{34EDB7F9-8BA2-4525-AAAF-D7AD300A029E}" srcOrd="2" destOrd="0" presId="urn:microsoft.com/office/officeart/2018/2/layout/IconVerticalSolidList"/>
    <dgm:cxn modelId="{9FF49D76-4C86-44A0-B04D-D5F573EF7D7C}" type="presParOf" srcId="{9517FDE0-893B-4C5E-8AED-C5F8A416E38C}" destId="{F3E83A16-3CEB-4352-B3FF-E4083912EB3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C555106-AEDF-43C1-A4BF-93B49943AB70}" type="doc">
      <dgm:prSet loTypeId="urn:microsoft.com/office/officeart/2005/8/layout/process5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73FD948D-0455-482D-913D-A05E170D53D0}">
      <dgm:prSet/>
      <dgm:spPr/>
      <dgm:t>
        <a:bodyPr/>
        <a:lstStyle/>
        <a:p>
          <a:r>
            <a:rPr lang="en-US"/>
            <a:t>✅ Upload healthcare documents</a:t>
          </a:r>
        </a:p>
      </dgm:t>
    </dgm:pt>
    <dgm:pt modelId="{7741985A-E569-40D6-9503-9B89F9499078}" type="parTrans" cxnId="{B5E1C9A8-965B-46C3-B4BD-B76A31673DED}">
      <dgm:prSet/>
      <dgm:spPr/>
      <dgm:t>
        <a:bodyPr/>
        <a:lstStyle/>
        <a:p>
          <a:endParaRPr lang="en-US"/>
        </a:p>
      </dgm:t>
    </dgm:pt>
    <dgm:pt modelId="{6F7A2CA9-1CB2-407C-AC69-C7AF66EABC24}" type="sibTrans" cxnId="{B5E1C9A8-965B-46C3-B4BD-B76A31673DED}">
      <dgm:prSet/>
      <dgm:spPr/>
      <dgm:t>
        <a:bodyPr/>
        <a:lstStyle/>
        <a:p>
          <a:endParaRPr lang="en-US"/>
        </a:p>
      </dgm:t>
    </dgm:pt>
    <dgm:pt modelId="{4B00A5B5-4717-4E8C-B1D1-5B7820B7C297}">
      <dgm:prSet/>
      <dgm:spPr/>
      <dgm:t>
        <a:bodyPr/>
        <a:lstStyle/>
        <a:p>
          <a:r>
            <a:rPr lang="en-US"/>
            <a:t>✅ Policy Question Answering</a:t>
          </a:r>
        </a:p>
      </dgm:t>
    </dgm:pt>
    <dgm:pt modelId="{57115B29-82AE-4A6D-91BF-AA27436EBBA5}" type="parTrans" cxnId="{C2897D03-A81C-46C9-B575-01DD4254E62C}">
      <dgm:prSet/>
      <dgm:spPr/>
      <dgm:t>
        <a:bodyPr/>
        <a:lstStyle/>
        <a:p>
          <a:endParaRPr lang="en-US"/>
        </a:p>
      </dgm:t>
    </dgm:pt>
    <dgm:pt modelId="{CBAAF387-85D8-429B-84C2-5B229F3061EA}" type="sibTrans" cxnId="{C2897D03-A81C-46C9-B575-01DD4254E62C}">
      <dgm:prSet/>
      <dgm:spPr/>
      <dgm:t>
        <a:bodyPr/>
        <a:lstStyle/>
        <a:p>
          <a:endParaRPr lang="en-US"/>
        </a:p>
      </dgm:t>
    </dgm:pt>
    <dgm:pt modelId="{CAF54144-CA93-4FD4-99BE-7F0408C7536D}">
      <dgm:prSet/>
      <dgm:spPr/>
      <dgm:t>
        <a:bodyPr/>
        <a:lstStyle/>
        <a:p>
          <a:r>
            <a:rPr lang="en-US"/>
            <a:t>✅ Document Summarization</a:t>
          </a:r>
        </a:p>
      </dgm:t>
    </dgm:pt>
    <dgm:pt modelId="{B8D478C6-B2FA-47CA-9042-BDCEB973E5BC}" type="parTrans" cxnId="{30663C79-79A3-427D-9B13-2B305BA9C4BC}">
      <dgm:prSet/>
      <dgm:spPr/>
      <dgm:t>
        <a:bodyPr/>
        <a:lstStyle/>
        <a:p>
          <a:endParaRPr lang="en-US"/>
        </a:p>
      </dgm:t>
    </dgm:pt>
    <dgm:pt modelId="{2DC19E4E-5872-4E01-971B-531B3FDFB2C3}" type="sibTrans" cxnId="{30663C79-79A3-427D-9B13-2B305BA9C4BC}">
      <dgm:prSet/>
      <dgm:spPr/>
      <dgm:t>
        <a:bodyPr/>
        <a:lstStyle/>
        <a:p>
          <a:endParaRPr lang="en-US"/>
        </a:p>
      </dgm:t>
    </dgm:pt>
    <dgm:pt modelId="{0BB75409-6019-4322-A4E6-896A461A7B44}">
      <dgm:prSet/>
      <dgm:spPr/>
      <dgm:t>
        <a:bodyPr/>
        <a:lstStyle/>
        <a:p>
          <a:r>
            <a:rPr lang="en-US"/>
            <a:t>✅ Policy Comparison</a:t>
          </a:r>
        </a:p>
      </dgm:t>
    </dgm:pt>
    <dgm:pt modelId="{B14D8974-DC4C-4105-A643-1665136EE311}" type="parTrans" cxnId="{533DAF0B-A537-44C5-AC26-02D23A1DC816}">
      <dgm:prSet/>
      <dgm:spPr/>
      <dgm:t>
        <a:bodyPr/>
        <a:lstStyle/>
        <a:p>
          <a:endParaRPr lang="en-US"/>
        </a:p>
      </dgm:t>
    </dgm:pt>
    <dgm:pt modelId="{590FFDA4-456A-4A3D-AC4B-89E1FBB24C98}" type="sibTrans" cxnId="{533DAF0B-A537-44C5-AC26-02D23A1DC816}">
      <dgm:prSet/>
      <dgm:spPr/>
      <dgm:t>
        <a:bodyPr/>
        <a:lstStyle/>
        <a:p>
          <a:endParaRPr lang="en-US"/>
        </a:p>
      </dgm:t>
    </dgm:pt>
    <dgm:pt modelId="{0B63D558-617B-40DD-A349-81F093FD61B6}">
      <dgm:prSet/>
      <dgm:spPr/>
      <dgm:t>
        <a:bodyPr/>
        <a:lstStyle/>
        <a:p>
          <a:r>
            <a:rPr lang="en-US"/>
            <a:t>✅ Rule Extraction</a:t>
          </a:r>
        </a:p>
      </dgm:t>
    </dgm:pt>
    <dgm:pt modelId="{80960A07-40C7-455E-9DA3-FEDF0443571C}" type="parTrans" cxnId="{4919A8DE-B444-4163-8019-586435BEA794}">
      <dgm:prSet/>
      <dgm:spPr/>
      <dgm:t>
        <a:bodyPr/>
        <a:lstStyle/>
        <a:p>
          <a:endParaRPr lang="en-US"/>
        </a:p>
      </dgm:t>
    </dgm:pt>
    <dgm:pt modelId="{DE92C87F-A917-415C-A3F5-3F88298E694E}" type="sibTrans" cxnId="{4919A8DE-B444-4163-8019-586435BEA794}">
      <dgm:prSet/>
      <dgm:spPr/>
      <dgm:t>
        <a:bodyPr/>
        <a:lstStyle/>
        <a:p>
          <a:endParaRPr lang="en-US"/>
        </a:p>
      </dgm:t>
    </dgm:pt>
    <dgm:pt modelId="{C821B3A1-5A9B-456E-9709-476C7C631A9B}" type="pres">
      <dgm:prSet presAssocID="{CC555106-AEDF-43C1-A4BF-93B49943AB70}" presName="diagram" presStyleCnt="0">
        <dgm:presLayoutVars>
          <dgm:dir/>
          <dgm:resizeHandles val="exact"/>
        </dgm:presLayoutVars>
      </dgm:prSet>
      <dgm:spPr/>
    </dgm:pt>
    <dgm:pt modelId="{948BACDE-784C-415F-B54B-6B632414E68F}" type="pres">
      <dgm:prSet presAssocID="{73FD948D-0455-482D-913D-A05E170D53D0}" presName="node" presStyleLbl="node1" presStyleIdx="0" presStyleCnt="5">
        <dgm:presLayoutVars>
          <dgm:bulletEnabled val="1"/>
        </dgm:presLayoutVars>
      </dgm:prSet>
      <dgm:spPr/>
    </dgm:pt>
    <dgm:pt modelId="{E0A8D4E5-556F-469D-B9F7-50B1ECD10A35}" type="pres">
      <dgm:prSet presAssocID="{6F7A2CA9-1CB2-407C-AC69-C7AF66EABC24}" presName="sibTrans" presStyleLbl="sibTrans2D1" presStyleIdx="0" presStyleCnt="4"/>
      <dgm:spPr/>
    </dgm:pt>
    <dgm:pt modelId="{FD21AF1C-DC18-4F14-95BA-9A9796F1DE5D}" type="pres">
      <dgm:prSet presAssocID="{6F7A2CA9-1CB2-407C-AC69-C7AF66EABC24}" presName="connectorText" presStyleLbl="sibTrans2D1" presStyleIdx="0" presStyleCnt="4"/>
      <dgm:spPr/>
    </dgm:pt>
    <dgm:pt modelId="{9386C9EA-30C1-4E64-95B5-9D9546E8B44A}" type="pres">
      <dgm:prSet presAssocID="{4B00A5B5-4717-4E8C-B1D1-5B7820B7C297}" presName="node" presStyleLbl="node1" presStyleIdx="1" presStyleCnt="5">
        <dgm:presLayoutVars>
          <dgm:bulletEnabled val="1"/>
        </dgm:presLayoutVars>
      </dgm:prSet>
      <dgm:spPr/>
    </dgm:pt>
    <dgm:pt modelId="{AF8C0E52-B2BA-42E7-91A4-EBE063EDF792}" type="pres">
      <dgm:prSet presAssocID="{CBAAF387-85D8-429B-84C2-5B229F3061EA}" presName="sibTrans" presStyleLbl="sibTrans2D1" presStyleIdx="1" presStyleCnt="4"/>
      <dgm:spPr/>
    </dgm:pt>
    <dgm:pt modelId="{2D478ED4-A43B-472F-B1C8-4B11533155DE}" type="pres">
      <dgm:prSet presAssocID="{CBAAF387-85D8-429B-84C2-5B229F3061EA}" presName="connectorText" presStyleLbl="sibTrans2D1" presStyleIdx="1" presStyleCnt="4"/>
      <dgm:spPr/>
    </dgm:pt>
    <dgm:pt modelId="{AEE851DA-F936-4BBD-B7E6-47176CA49172}" type="pres">
      <dgm:prSet presAssocID="{CAF54144-CA93-4FD4-99BE-7F0408C7536D}" presName="node" presStyleLbl="node1" presStyleIdx="2" presStyleCnt="5">
        <dgm:presLayoutVars>
          <dgm:bulletEnabled val="1"/>
        </dgm:presLayoutVars>
      </dgm:prSet>
      <dgm:spPr/>
    </dgm:pt>
    <dgm:pt modelId="{05542FCB-E36C-427D-893A-E58A85C88960}" type="pres">
      <dgm:prSet presAssocID="{2DC19E4E-5872-4E01-971B-531B3FDFB2C3}" presName="sibTrans" presStyleLbl="sibTrans2D1" presStyleIdx="2" presStyleCnt="4"/>
      <dgm:spPr/>
    </dgm:pt>
    <dgm:pt modelId="{07273FF9-986F-4AF8-B43B-9F9479BDE349}" type="pres">
      <dgm:prSet presAssocID="{2DC19E4E-5872-4E01-971B-531B3FDFB2C3}" presName="connectorText" presStyleLbl="sibTrans2D1" presStyleIdx="2" presStyleCnt="4"/>
      <dgm:spPr/>
    </dgm:pt>
    <dgm:pt modelId="{2010AB1B-D41D-4414-BE9D-7C5AB5791B2B}" type="pres">
      <dgm:prSet presAssocID="{0BB75409-6019-4322-A4E6-896A461A7B44}" presName="node" presStyleLbl="node1" presStyleIdx="3" presStyleCnt="5">
        <dgm:presLayoutVars>
          <dgm:bulletEnabled val="1"/>
        </dgm:presLayoutVars>
      </dgm:prSet>
      <dgm:spPr/>
    </dgm:pt>
    <dgm:pt modelId="{28AE6301-64F6-4C3C-8994-2ABB3A324798}" type="pres">
      <dgm:prSet presAssocID="{590FFDA4-456A-4A3D-AC4B-89E1FBB24C98}" presName="sibTrans" presStyleLbl="sibTrans2D1" presStyleIdx="3" presStyleCnt="4"/>
      <dgm:spPr/>
    </dgm:pt>
    <dgm:pt modelId="{B4AEE1CA-1EB5-41AB-8294-D6CD828DC558}" type="pres">
      <dgm:prSet presAssocID="{590FFDA4-456A-4A3D-AC4B-89E1FBB24C98}" presName="connectorText" presStyleLbl="sibTrans2D1" presStyleIdx="3" presStyleCnt="4"/>
      <dgm:spPr/>
    </dgm:pt>
    <dgm:pt modelId="{451317BC-E66A-4793-A5BC-D8E3E3F665F9}" type="pres">
      <dgm:prSet presAssocID="{0B63D558-617B-40DD-A349-81F093FD61B6}" presName="node" presStyleLbl="node1" presStyleIdx="4" presStyleCnt="5">
        <dgm:presLayoutVars>
          <dgm:bulletEnabled val="1"/>
        </dgm:presLayoutVars>
      </dgm:prSet>
      <dgm:spPr/>
    </dgm:pt>
  </dgm:ptLst>
  <dgm:cxnLst>
    <dgm:cxn modelId="{C2897D03-A81C-46C9-B575-01DD4254E62C}" srcId="{CC555106-AEDF-43C1-A4BF-93B49943AB70}" destId="{4B00A5B5-4717-4E8C-B1D1-5B7820B7C297}" srcOrd="1" destOrd="0" parTransId="{57115B29-82AE-4A6D-91BF-AA27436EBBA5}" sibTransId="{CBAAF387-85D8-429B-84C2-5B229F3061EA}"/>
    <dgm:cxn modelId="{24BDCE05-28C3-493E-8CD3-74D340633F56}" type="presOf" srcId="{2DC19E4E-5872-4E01-971B-531B3FDFB2C3}" destId="{07273FF9-986F-4AF8-B43B-9F9479BDE349}" srcOrd="1" destOrd="0" presId="urn:microsoft.com/office/officeart/2005/8/layout/process5"/>
    <dgm:cxn modelId="{533DAF0B-A537-44C5-AC26-02D23A1DC816}" srcId="{CC555106-AEDF-43C1-A4BF-93B49943AB70}" destId="{0BB75409-6019-4322-A4E6-896A461A7B44}" srcOrd="3" destOrd="0" parTransId="{B14D8974-DC4C-4105-A643-1665136EE311}" sibTransId="{590FFDA4-456A-4A3D-AC4B-89E1FBB24C98}"/>
    <dgm:cxn modelId="{F8B5DF0F-DDC1-4629-951D-1593A388BD0D}" type="presOf" srcId="{2DC19E4E-5872-4E01-971B-531B3FDFB2C3}" destId="{05542FCB-E36C-427D-893A-E58A85C88960}" srcOrd="0" destOrd="0" presId="urn:microsoft.com/office/officeart/2005/8/layout/process5"/>
    <dgm:cxn modelId="{3D770A1A-1E96-4CA6-A041-4A63D20C4B08}" type="presOf" srcId="{6F7A2CA9-1CB2-407C-AC69-C7AF66EABC24}" destId="{FD21AF1C-DC18-4F14-95BA-9A9796F1DE5D}" srcOrd="1" destOrd="0" presId="urn:microsoft.com/office/officeart/2005/8/layout/process5"/>
    <dgm:cxn modelId="{BF3C9A1C-7F28-4AEE-AA02-4CC0415F3097}" type="presOf" srcId="{CBAAF387-85D8-429B-84C2-5B229F3061EA}" destId="{AF8C0E52-B2BA-42E7-91A4-EBE063EDF792}" srcOrd="0" destOrd="0" presId="urn:microsoft.com/office/officeart/2005/8/layout/process5"/>
    <dgm:cxn modelId="{E69AEB26-C4D3-4311-AE0C-999C0828F935}" type="presOf" srcId="{6F7A2CA9-1CB2-407C-AC69-C7AF66EABC24}" destId="{E0A8D4E5-556F-469D-B9F7-50B1ECD10A35}" srcOrd="0" destOrd="0" presId="urn:microsoft.com/office/officeart/2005/8/layout/process5"/>
    <dgm:cxn modelId="{6C7DC250-3CCF-4161-A254-3C6E02D9D8E9}" type="presOf" srcId="{590FFDA4-456A-4A3D-AC4B-89E1FBB24C98}" destId="{28AE6301-64F6-4C3C-8994-2ABB3A324798}" srcOrd="0" destOrd="0" presId="urn:microsoft.com/office/officeart/2005/8/layout/process5"/>
    <dgm:cxn modelId="{2A4A5755-5C81-499F-A53A-6D646F810ADF}" type="presOf" srcId="{73FD948D-0455-482D-913D-A05E170D53D0}" destId="{948BACDE-784C-415F-B54B-6B632414E68F}" srcOrd="0" destOrd="0" presId="urn:microsoft.com/office/officeart/2005/8/layout/process5"/>
    <dgm:cxn modelId="{30663C79-79A3-427D-9B13-2B305BA9C4BC}" srcId="{CC555106-AEDF-43C1-A4BF-93B49943AB70}" destId="{CAF54144-CA93-4FD4-99BE-7F0408C7536D}" srcOrd="2" destOrd="0" parTransId="{B8D478C6-B2FA-47CA-9042-BDCEB973E5BC}" sibTransId="{2DC19E4E-5872-4E01-971B-531B3FDFB2C3}"/>
    <dgm:cxn modelId="{2460AD88-C636-4880-B574-9035573ECBAF}" type="presOf" srcId="{0BB75409-6019-4322-A4E6-896A461A7B44}" destId="{2010AB1B-D41D-4414-BE9D-7C5AB5791B2B}" srcOrd="0" destOrd="0" presId="urn:microsoft.com/office/officeart/2005/8/layout/process5"/>
    <dgm:cxn modelId="{31B95DA5-4134-494E-AEF3-789C44917C6B}" type="presOf" srcId="{4B00A5B5-4717-4E8C-B1D1-5B7820B7C297}" destId="{9386C9EA-30C1-4E64-95B5-9D9546E8B44A}" srcOrd="0" destOrd="0" presId="urn:microsoft.com/office/officeart/2005/8/layout/process5"/>
    <dgm:cxn modelId="{B5E1C9A8-965B-46C3-B4BD-B76A31673DED}" srcId="{CC555106-AEDF-43C1-A4BF-93B49943AB70}" destId="{73FD948D-0455-482D-913D-A05E170D53D0}" srcOrd="0" destOrd="0" parTransId="{7741985A-E569-40D6-9503-9B89F9499078}" sibTransId="{6F7A2CA9-1CB2-407C-AC69-C7AF66EABC24}"/>
    <dgm:cxn modelId="{E2DB16CA-C8C9-4C78-B534-88D2EC362AB2}" type="presOf" srcId="{0B63D558-617B-40DD-A349-81F093FD61B6}" destId="{451317BC-E66A-4793-A5BC-D8E3E3F665F9}" srcOrd="0" destOrd="0" presId="urn:microsoft.com/office/officeart/2005/8/layout/process5"/>
    <dgm:cxn modelId="{AA9E59D2-DAA8-4AC6-8848-19E7FC0CE081}" type="presOf" srcId="{CC555106-AEDF-43C1-A4BF-93B49943AB70}" destId="{C821B3A1-5A9B-456E-9709-476C7C631A9B}" srcOrd="0" destOrd="0" presId="urn:microsoft.com/office/officeart/2005/8/layout/process5"/>
    <dgm:cxn modelId="{539A41D6-14FB-4871-B334-2DCBF3F6E220}" type="presOf" srcId="{CBAAF387-85D8-429B-84C2-5B229F3061EA}" destId="{2D478ED4-A43B-472F-B1C8-4B11533155DE}" srcOrd="1" destOrd="0" presId="urn:microsoft.com/office/officeart/2005/8/layout/process5"/>
    <dgm:cxn modelId="{41D4B0DB-E929-43CD-80B9-EC8959D1FE78}" type="presOf" srcId="{590FFDA4-456A-4A3D-AC4B-89E1FBB24C98}" destId="{B4AEE1CA-1EB5-41AB-8294-D6CD828DC558}" srcOrd="1" destOrd="0" presId="urn:microsoft.com/office/officeart/2005/8/layout/process5"/>
    <dgm:cxn modelId="{4919A8DE-B444-4163-8019-586435BEA794}" srcId="{CC555106-AEDF-43C1-A4BF-93B49943AB70}" destId="{0B63D558-617B-40DD-A349-81F093FD61B6}" srcOrd="4" destOrd="0" parTransId="{80960A07-40C7-455E-9DA3-FEDF0443571C}" sibTransId="{DE92C87F-A917-415C-A3F5-3F88298E694E}"/>
    <dgm:cxn modelId="{DBDFDBE9-1F2B-44C1-BC53-C479F98EF52E}" type="presOf" srcId="{CAF54144-CA93-4FD4-99BE-7F0408C7536D}" destId="{AEE851DA-F936-4BBD-B7E6-47176CA49172}" srcOrd="0" destOrd="0" presId="urn:microsoft.com/office/officeart/2005/8/layout/process5"/>
    <dgm:cxn modelId="{B22277EC-B092-4EF9-8B38-43C066F98CC4}" type="presParOf" srcId="{C821B3A1-5A9B-456E-9709-476C7C631A9B}" destId="{948BACDE-784C-415F-B54B-6B632414E68F}" srcOrd="0" destOrd="0" presId="urn:microsoft.com/office/officeart/2005/8/layout/process5"/>
    <dgm:cxn modelId="{9C8137AF-9E48-482A-B48F-8A6F5C49A9A1}" type="presParOf" srcId="{C821B3A1-5A9B-456E-9709-476C7C631A9B}" destId="{E0A8D4E5-556F-469D-B9F7-50B1ECD10A35}" srcOrd="1" destOrd="0" presId="urn:microsoft.com/office/officeart/2005/8/layout/process5"/>
    <dgm:cxn modelId="{5A3D90B9-8269-4BA9-A64B-2BF600005CF9}" type="presParOf" srcId="{E0A8D4E5-556F-469D-B9F7-50B1ECD10A35}" destId="{FD21AF1C-DC18-4F14-95BA-9A9796F1DE5D}" srcOrd="0" destOrd="0" presId="urn:microsoft.com/office/officeart/2005/8/layout/process5"/>
    <dgm:cxn modelId="{4A333084-3BB9-4386-8541-859A84B06A7C}" type="presParOf" srcId="{C821B3A1-5A9B-456E-9709-476C7C631A9B}" destId="{9386C9EA-30C1-4E64-95B5-9D9546E8B44A}" srcOrd="2" destOrd="0" presId="urn:microsoft.com/office/officeart/2005/8/layout/process5"/>
    <dgm:cxn modelId="{6BE710E8-4CE7-4523-AB69-20608CA6E3C8}" type="presParOf" srcId="{C821B3A1-5A9B-456E-9709-476C7C631A9B}" destId="{AF8C0E52-B2BA-42E7-91A4-EBE063EDF792}" srcOrd="3" destOrd="0" presId="urn:microsoft.com/office/officeart/2005/8/layout/process5"/>
    <dgm:cxn modelId="{47F39563-B042-402C-90B2-6D12AD83571C}" type="presParOf" srcId="{AF8C0E52-B2BA-42E7-91A4-EBE063EDF792}" destId="{2D478ED4-A43B-472F-B1C8-4B11533155DE}" srcOrd="0" destOrd="0" presId="urn:microsoft.com/office/officeart/2005/8/layout/process5"/>
    <dgm:cxn modelId="{AFA4A83F-00A3-44BA-8BB9-0E625113B897}" type="presParOf" srcId="{C821B3A1-5A9B-456E-9709-476C7C631A9B}" destId="{AEE851DA-F936-4BBD-B7E6-47176CA49172}" srcOrd="4" destOrd="0" presId="urn:microsoft.com/office/officeart/2005/8/layout/process5"/>
    <dgm:cxn modelId="{540BCBDA-00FF-483F-A77F-B1EAB1BA7755}" type="presParOf" srcId="{C821B3A1-5A9B-456E-9709-476C7C631A9B}" destId="{05542FCB-E36C-427D-893A-E58A85C88960}" srcOrd="5" destOrd="0" presId="urn:microsoft.com/office/officeart/2005/8/layout/process5"/>
    <dgm:cxn modelId="{B163078D-289C-40F6-9E82-E74D6BAEF9DA}" type="presParOf" srcId="{05542FCB-E36C-427D-893A-E58A85C88960}" destId="{07273FF9-986F-4AF8-B43B-9F9479BDE349}" srcOrd="0" destOrd="0" presId="urn:microsoft.com/office/officeart/2005/8/layout/process5"/>
    <dgm:cxn modelId="{864C437B-90EE-46CC-9421-4B3BD8142280}" type="presParOf" srcId="{C821B3A1-5A9B-456E-9709-476C7C631A9B}" destId="{2010AB1B-D41D-4414-BE9D-7C5AB5791B2B}" srcOrd="6" destOrd="0" presId="urn:microsoft.com/office/officeart/2005/8/layout/process5"/>
    <dgm:cxn modelId="{75FC6ADC-9536-4773-8FD4-F802588D1F12}" type="presParOf" srcId="{C821B3A1-5A9B-456E-9709-476C7C631A9B}" destId="{28AE6301-64F6-4C3C-8994-2ABB3A324798}" srcOrd="7" destOrd="0" presId="urn:microsoft.com/office/officeart/2005/8/layout/process5"/>
    <dgm:cxn modelId="{9C69DB4D-78C0-4C27-BE0B-6A40E9065F71}" type="presParOf" srcId="{28AE6301-64F6-4C3C-8994-2ABB3A324798}" destId="{B4AEE1CA-1EB5-41AB-8294-D6CD828DC558}" srcOrd="0" destOrd="0" presId="urn:microsoft.com/office/officeart/2005/8/layout/process5"/>
    <dgm:cxn modelId="{F0054232-D13B-4389-94F7-92ABB73CDB82}" type="presParOf" srcId="{C821B3A1-5A9B-456E-9709-476C7C631A9B}" destId="{451317BC-E66A-4793-A5BC-D8E3E3F665F9}" srcOrd="8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385710-C9E3-4E3B-93C7-E1BDB2604AC4}">
      <dsp:nvSpPr>
        <dsp:cNvPr id="0" name=""/>
        <dsp:cNvSpPr/>
      </dsp:nvSpPr>
      <dsp:spPr>
        <a:xfrm>
          <a:off x="0" y="2282"/>
          <a:ext cx="6171948" cy="115674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51D36DB-6CFA-40BD-8B46-0BE9D8C94CC2}">
      <dsp:nvSpPr>
        <dsp:cNvPr id="0" name=""/>
        <dsp:cNvSpPr/>
      </dsp:nvSpPr>
      <dsp:spPr>
        <a:xfrm>
          <a:off x="349915" y="262549"/>
          <a:ext cx="636209" cy="63620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0B11A5-DECC-4F52-BC21-B6A6C7F78FCA}">
      <dsp:nvSpPr>
        <dsp:cNvPr id="0" name=""/>
        <dsp:cNvSpPr/>
      </dsp:nvSpPr>
      <dsp:spPr>
        <a:xfrm>
          <a:off x="1336039" y="2282"/>
          <a:ext cx="4835908" cy="11567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422" tIns="122422" rIns="122422" bIns="122422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✔ Understands natural language in healthcare documents</a:t>
          </a:r>
        </a:p>
      </dsp:txBody>
      <dsp:txXfrm>
        <a:off x="1336039" y="2282"/>
        <a:ext cx="4835908" cy="1156744"/>
      </dsp:txXfrm>
    </dsp:sp>
    <dsp:sp modelId="{D94AF137-1F4F-468D-A6F3-6254095EDE80}">
      <dsp:nvSpPr>
        <dsp:cNvPr id="0" name=""/>
        <dsp:cNvSpPr/>
      </dsp:nvSpPr>
      <dsp:spPr>
        <a:xfrm>
          <a:off x="0" y="1448212"/>
          <a:ext cx="6171948" cy="115674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DB23A9F-8B39-4B1E-A4EC-6434A832A198}">
      <dsp:nvSpPr>
        <dsp:cNvPr id="0" name=""/>
        <dsp:cNvSpPr/>
      </dsp:nvSpPr>
      <dsp:spPr>
        <a:xfrm>
          <a:off x="349915" y="1708480"/>
          <a:ext cx="636209" cy="63620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834A6F-9E20-49B9-B785-34CE3B566002}">
      <dsp:nvSpPr>
        <dsp:cNvPr id="0" name=""/>
        <dsp:cNvSpPr/>
      </dsp:nvSpPr>
      <dsp:spPr>
        <a:xfrm>
          <a:off x="1336039" y="1448212"/>
          <a:ext cx="4835908" cy="11567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422" tIns="122422" rIns="122422" bIns="122422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✔ Generates summaries and answers to user questions</a:t>
          </a:r>
        </a:p>
      </dsp:txBody>
      <dsp:txXfrm>
        <a:off x="1336039" y="1448212"/>
        <a:ext cx="4835908" cy="1156744"/>
      </dsp:txXfrm>
    </dsp:sp>
    <dsp:sp modelId="{886F17B5-1C9A-4C6E-84C6-D7624DDEB1E6}">
      <dsp:nvSpPr>
        <dsp:cNvPr id="0" name=""/>
        <dsp:cNvSpPr/>
      </dsp:nvSpPr>
      <dsp:spPr>
        <a:xfrm>
          <a:off x="0" y="2894143"/>
          <a:ext cx="6171948" cy="115674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25CC338-4EF1-4694-A721-583303F09EE4}">
      <dsp:nvSpPr>
        <dsp:cNvPr id="0" name=""/>
        <dsp:cNvSpPr/>
      </dsp:nvSpPr>
      <dsp:spPr>
        <a:xfrm>
          <a:off x="349915" y="3154410"/>
          <a:ext cx="636209" cy="63620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D5F1B9-418B-4547-84DA-2A90CB27A366}">
      <dsp:nvSpPr>
        <dsp:cNvPr id="0" name=""/>
        <dsp:cNvSpPr/>
      </dsp:nvSpPr>
      <dsp:spPr>
        <a:xfrm>
          <a:off x="1336039" y="2894143"/>
          <a:ext cx="4835908" cy="11567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422" tIns="122422" rIns="122422" bIns="122422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✔ Retrieves relevant information from uploaded documents</a:t>
          </a:r>
        </a:p>
      </dsp:txBody>
      <dsp:txXfrm>
        <a:off x="1336039" y="2894143"/>
        <a:ext cx="4835908" cy="1156744"/>
      </dsp:txXfrm>
    </dsp:sp>
    <dsp:sp modelId="{49707BDB-BFC3-421F-84B5-B2E31BAB7690}">
      <dsp:nvSpPr>
        <dsp:cNvPr id="0" name=""/>
        <dsp:cNvSpPr/>
      </dsp:nvSpPr>
      <dsp:spPr>
        <a:xfrm>
          <a:off x="0" y="4340073"/>
          <a:ext cx="6171948" cy="115674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EDE4EEF-DBCD-48E3-A96F-7383F2C3891E}">
      <dsp:nvSpPr>
        <dsp:cNvPr id="0" name=""/>
        <dsp:cNvSpPr/>
      </dsp:nvSpPr>
      <dsp:spPr>
        <a:xfrm>
          <a:off x="349915" y="4600340"/>
          <a:ext cx="636209" cy="63620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E83A16-3CEB-4352-B3FF-E4083912EB3B}">
      <dsp:nvSpPr>
        <dsp:cNvPr id="0" name=""/>
        <dsp:cNvSpPr/>
      </dsp:nvSpPr>
      <dsp:spPr>
        <a:xfrm>
          <a:off x="1336039" y="4340073"/>
          <a:ext cx="4835908" cy="11567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422" tIns="122422" rIns="122422" bIns="122422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✔ Produces evidence-based responses instead of relying only on general AI knowledge</a:t>
          </a:r>
        </a:p>
      </dsp:txBody>
      <dsp:txXfrm>
        <a:off x="1336039" y="4340073"/>
        <a:ext cx="4835908" cy="115674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8BACDE-784C-415F-B54B-6B632414E68F}">
      <dsp:nvSpPr>
        <dsp:cNvPr id="0" name=""/>
        <dsp:cNvSpPr/>
      </dsp:nvSpPr>
      <dsp:spPr>
        <a:xfrm>
          <a:off x="1278984" y="1193"/>
          <a:ext cx="2140341" cy="12842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✅ Upload healthcare documents</a:t>
          </a:r>
        </a:p>
      </dsp:txBody>
      <dsp:txXfrm>
        <a:off x="1316597" y="38806"/>
        <a:ext cx="2065115" cy="1208978"/>
      </dsp:txXfrm>
    </dsp:sp>
    <dsp:sp modelId="{E0A8D4E5-556F-469D-B9F7-50B1ECD10A35}">
      <dsp:nvSpPr>
        <dsp:cNvPr id="0" name=""/>
        <dsp:cNvSpPr/>
      </dsp:nvSpPr>
      <dsp:spPr>
        <a:xfrm>
          <a:off x="3607675" y="377893"/>
          <a:ext cx="453752" cy="53080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3607675" y="484054"/>
        <a:ext cx="317626" cy="318482"/>
      </dsp:txXfrm>
    </dsp:sp>
    <dsp:sp modelId="{9386C9EA-30C1-4E64-95B5-9D9546E8B44A}">
      <dsp:nvSpPr>
        <dsp:cNvPr id="0" name=""/>
        <dsp:cNvSpPr/>
      </dsp:nvSpPr>
      <dsp:spPr>
        <a:xfrm>
          <a:off x="4275461" y="1193"/>
          <a:ext cx="2140341" cy="12842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✅ Policy Question Answering</a:t>
          </a:r>
        </a:p>
      </dsp:txBody>
      <dsp:txXfrm>
        <a:off x="4313074" y="38806"/>
        <a:ext cx="2065115" cy="1208978"/>
      </dsp:txXfrm>
    </dsp:sp>
    <dsp:sp modelId="{AF8C0E52-B2BA-42E7-91A4-EBE063EDF792}">
      <dsp:nvSpPr>
        <dsp:cNvPr id="0" name=""/>
        <dsp:cNvSpPr/>
      </dsp:nvSpPr>
      <dsp:spPr>
        <a:xfrm>
          <a:off x="6604153" y="377893"/>
          <a:ext cx="453752" cy="53080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6604153" y="484054"/>
        <a:ext cx="317626" cy="318482"/>
      </dsp:txXfrm>
    </dsp:sp>
    <dsp:sp modelId="{AEE851DA-F936-4BBD-B7E6-47176CA49172}">
      <dsp:nvSpPr>
        <dsp:cNvPr id="0" name=""/>
        <dsp:cNvSpPr/>
      </dsp:nvSpPr>
      <dsp:spPr>
        <a:xfrm>
          <a:off x="7271939" y="1193"/>
          <a:ext cx="2140341" cy="12842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✅ Document Summarization</a:t>
          </a:r>
        </a:p>
      </dsp:txBody>
      <dsp:txXfrm>
        <a:off x="7309552" y="38806"/>
        <a:ext cx="2065115" cy="1208978"/>
      </dsp:txXfrm>
    </dsp:sp>
    <dsp:sp modelId="{05542FCB-E36C-427D-893A-E58A85C88960}">
      <dsp:nvSpPr>
        <dsp:cNvPr id="0" name=""/>
        <dsp:cNvSpPr/>
      </dsp:nvSpPr>
      <dsp:spPr>
        <a:xfrm rot="5400000">
          <a:off x="8115233" y="1435221"/>
          <a:ext cx="453752" cy="53080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 rot="-5400000">
        <a:off x="8182868" y="1473747"/>
        <a:ext cx="318482" cy="317626"/>
      </dsp:txXfrm>
    </dsp:sp>
    <dsp:sp modelId="{2010AB1B-D41D-4414-BE9D-7C5AB5791B2B}">
      <dsp:nvSpPr>
        <dsp:cNvPr id="0" name=""/>
        <dsp:cNvSpPr/>
      </dsp:nvSpPr>
      <dsp:spPr>
        <a:xfrm>
          <a:off x="7271939" y="2141534"/>
          <a:ext cx="2140341" cy="12842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✅ Policy Comparison</a:t>
          </a:r>
        </a:p>
      </dsp:txBody>
      <dsp:txXfrm>
        <a:off x="7309552" y="2179147"/>
        <a:ext cx="2065115" cy="1208978"/>
      </dsp:txXfrm>
    </dsp:sp>
    <dsp:sp modelId="{28AE6301-64F6-4C3C-8994-2ABB3A324798}">
      <dsp:nvSpPr>
        <dsp:cNvPr id="0" name=""/>
        <dsp:cNvSpPr/>
      </dsp:nvSpPr>
      <dsp:spPr>
        <a:xfrm rot="10800000">
          <a:off x="6629837" y="2518234"/>
          <a:ext cx="453752" cy="53080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 rot="10800000">
        <a:off x="6765963" y="2624395"/>
        <a:ext cx="317626" cy="318482"/>
      </dsp:txXfrm>
    </dsp:sp>
    <dsp:sp modelId="{451317BC-E66A-4793-A5BC-D8E3E3F665F9}">
      <dsp:nvSpPr>
        <dsp:cNvPr id="0" name=""/>
        <dsp:cNvSpPr/>
      </dsp:nvSpPr>
      <dsp:spPr>
        <a:xfrm>
          <a:off x="4275461" y="2141534"/>
          <a:ext cx="2140341" cy="12842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✅ Rule Extraction</a:t>
          </a:r>
        </a:p>
      </dsp:txBody>
      <dsp:txXfrm>
        <a:off x="4313074" y="2179147"/>
        <a:ext cx="2065115" cy="120897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1678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3271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0890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6579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7/21/2026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657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7/21/2026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0904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7/21/2026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1763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5785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8699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624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9672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59779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1" r:id="rId6"/>
    <p:sldLayoutId id="2147483687" r:id="rId7"/>
    <p:sldLayoutId id="2147483688" r:id="rId8"/>
    <p:sldLayoutId id="2147483689" r:id="rId9"/>
    <p:sldLayoutId id="2147483690" r:id="rId10"/>
    <p:sldLayoutId id="2147483692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38159" y="1177348"/>
            <a:ext cx="3330906" cy="344106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600">
                <a:ea typeface="+mj-lt"/>
                <a:cs typeface="+mj-lt"/>
              </a:rPr>
              <a:t>Improving Healthcare Content Management Using Generative AI</a:t>
            </a:r>
            <a:endParaRPr lang="en-US" sz="360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09280" y="4754942"/>
            <a:ext cx="3259785" cy="925710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00000"/>
              </a:lnSpc>
            </a:pPr>
            <a:endParaRPr lang="en-US" sz="700" b="1"/>
          </a:p>
          <a:p>
            <a:pPr>
              <a:lnSpc>
                <a:spcPct val="100000"/>
              </a:lnSpc>
            </a:pPr>
            <a:r>
              <a:rPr lang="en-US" sz="700" b="1">
                <a:ea typeface="+mn-lt"/>
                <a:cs typeface="+mn-lt"/>
              </a:rPr>
              <a:t>Developed By: Dipa Khadka</a:t>
            </a:r>
            <a:endParaRPr lang="en-US" sz="700"/>
          </a:p>
          <a:p>
            <a:pPr>
              <a:lnSpc>
                <a:spcPct val="100000"/>
              </a:lnSpc>
            </a:pPr>
            <a:r>
              <a:rPr lang="en-US" sz="700">
                <a:ea typeface="+mn-lt"/>
                <a:cs typeface="+mn-lt"/>
              </a:rPr>
              <a:t>University: University Of New Haven , CT</a:t>
            </a:r>
            <a:endParaRPr lang="en-US" sz="700"/>
          </a:p>
          <a:p>
            <a:pPr>
              <a:lnSpc>
                <a:spcPct val="100000"/>
              </a:lnSpc>
            </a:pPr>
            <a:r>
              <a:rPr lang="en-US" sz="700">
                <a:ea typeface="+mn-lt"/>
                <a:cs typeface="+mn-lt"/>
              </a:rPr>
              <a:t>Intern Assessment</a:t>
            </a:r>
            <a:endParaRPr lang="en-US" sz="700"/>
          </a:p>
          <a:p>
            <a:pPr>
              <a:lnSpc>
                <a:spcPct val="100000"/>
              </a:lnSpc>
            </a:pPr>
            <a:endParaRPr lang="en-US" sz="70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BCE2EB46-33D9-50C3-BA45-1C88953F0FC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708" r="29146" b="6"/>
          <a:stretch>
            <a:fillRect/>
          </a:stretch>
        </p:blipFill>
        <p:spPr>
          <a:xfrm>
            <a:off x="2186060" y="863602"/>
            <a:ext cx="4253720" cy="5134757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7CC41EB-2D81-4303-9171-6401B388BA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885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B97335-2A61-F436-F4EA-D111C491D2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2672" y="909638"/>
            <a:ext cx="5848694" cy="1318062"/>
          </a:xfrm>
        </p:spPr>
        <p:txBody>
          <a:bodyPr>
            <a:normAutofit/>
          </a:bodyPr>
          <a:lstStyle/>
          <a:p>
            <a:r>
              <a:rPr lang="en-US">
                <a:ea typeface="+mj-lt"/>
                <a:cs typeface="+mj-lt"/>
              </a:rPr>
              <a:t>Problem Statement</a:t>
            </a:r>
            <a:endParaRPr lang="en-US"/>
          </a:p>
        </p:txBody>
      </p:sp>
      <p:pic>
        <p:nvPicPr>
          <p:cNvPr id="14" name="Graphic 13" descr="Stethoscope">
            <a:extLst>
              <a:ext uri="{FF2B5EF4-FFF2-40B4-BE49-F238E27FC236}">
                <a16:creationId xmlns:a16="http://schemas.microsoft.com/office/drawing/2014/main" id="{5CBB2E16-E0AA-28F9-AAA2-399262B380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00101" y="1679090"/>
            <a:ext cx="4455010" cy="4455010"/>
          </a:xfrm>
          <a:prstGeom prst="rect">
            <a:avLst/>
          </a:prstGeom>
        </p:spPr>
      </p:pic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880661" y="723900"/>
            <a:ext cx="16002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DB48DF-F00E-3BCF-858D-0F8FE03798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42672" y="2276474"/>
            <a:ext cx="5848694" cy="3885027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en-US" b="1">
                <a:ea typeface="+mn-lt"/>
                <a:cs typeface="+mn-lt"/>
              </a:rPr>
              <a:t>Current Challenges</a:t>
            </a:r>
            <a:endParaRPr lang="en-US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Large healthcare policy documents </a:t>
            </a:r>
            <a:endParaRPr lang="en-US"/>
          </a:p>
          <a:p>
            <a:pPr>
              <a:buFont typeface="Arial"/>
            </a:pPr>
            <a:r>
              <a:rPr lang="en-US">
                <a:ea typeface="+mn-lt"/>
                <a:cs typeface="+mn-lt"/>
              </a:rPr>
              <a:t>Manual document review </a:t>
            </a:r>
            <a:endParaRPr lang="en-US"/>
          </a:p>
          <a:p>
            <a:pPr>
              <a:buFont typeface="Arial"/>
            </a:pPr>
            <a:r>
              <a:rPr lang="en-US">
                <a:ea typeface="+mn-lt"/>
                <a:cs typeface="+mn-lt"/>
              </a:rPr>
              <a:t>Frequent policy updates </a:t>
            </a:r>
            <a:endParaRPr lang="en-US"/>
          </a:p>
          <a:p>
            <a:pPr>
              <a:buFont typeface="Arial"/>
            </a:pPr>
            <a:r>
              <a:rPr lang="en-US">
                <a:ea typeface="+mn-lt"/>
                <a:cs typeface="+mn-lt"/>
              </a:rPr>
              <a:t>Difficult policy comparison </a:t>
            </a:r>
            <a:endParaRPr lang="en-US"/>
          </a:p>
          <a:p>
            <a:pPr>
              <a:buFont typeface="Arial"/>
            </a:pPr>
            <a:r>
              <a:rPr lang="en-US">
                <a:ea typeface="+mn-lt"/>
                <a:cs typeface="+mn-lt"/>
              </a:rPr>
              <a:t>Time-consuming information retrieval</a:t>
            </a:r>
            <a:endParaRPr lang="en-US"/>
          </a:p>
          <a:p>
            <a:pPr marL="0" indent="0">
              <a:buNone/>
            </a:pP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322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AD5D16-9BA8-0AEB-B52B-A24D74544C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3914776" cy="3977269"/>
          </a:xfrm>
        </p:spPr>
        <p:txBody>
          <a:bodyPr>
            <a:normAutofit/>
          </a:bodyPr>
          <a:lstStyle/>
          <a:p>
            <a:r>
              <a:rPr lang="en-US"/>
              <a:t>Why Generative AI and RAG?</a:t>
            </a:r>
          </a:p>
          <a:p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BFD5B9F-5FB6-467D-83D5-DF82F19073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5240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9E8674C2-D4C8-F731-7137-F1559C7E4D6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80640985"/>
              </p:ext>
            </p:extLst>
          </p:nvPr>
        </p:nvGraphicFramePr>
        <p:xfrm>
          <a:off x="5219952" y="723900"/>
          <a:ext cx="6171948" cy="54991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305707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5F710FDB-0919-493E-8539-8240C23F1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98D7E3-991E-E1FD-6749-8AFFBD0C4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559063"/>
            <a:ext cx="3306747" cy="5256025"/>
          </a:xfrm>
        </p:spPr>
        <p:txBody>
          <a:bodyPr>
            <a:normAutofit/>
          </a:bodyPr>
          <a:lstStyle/>
          <a:p>
            <a:r>
              <a:rPr lang="en-US" sz="3600">
                <a:ea typeface="+mj-lt"/>
                <a:cs typeface="+mj-lt"/>
              </a:rPr>
              <a:t>Solution Architecture</a:t>
            </a:r>
            <a:endParaRPr lang="en-US" sz="36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E442EC-152E-0B00-33DC-2FC20CDEF9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43022" y="622249"/>
            <a:ext cx="6844892" cy="5639712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400">
                <a:ea typeface="+mn-lt"/>
                <a:cs typeface="+mn-lt"/>
              </a:rPr>
              <a:t>Healthcare PDFs</a:t>
            </a:r>
            <a:endParaRPr lang="en-US" sz="1400"/>
          </a:p>
          <a:p>
            <a:pPr marL="0" indent="0">
              <a:lnSpc>
                <a:spcPct val="100000"/>
              </a:lnSpc>
              <a:buNone/>
            </a:pPr>
            <a:r>
              <a:rPr lang="en-US" sz="1400">
                <a:ea typeface="+mn-lt"/>
                <a:cs typeface="+mn-lt"/>
              </a:rPr>
              <a:t>      │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400">
                <a:ea typeface="+mn-lt"/>
                <a:cs typeface="+mn-lt"/>
              </a:rPr>
              <a:t>      ▼</a:t>
            </a:r>
          </a:p>
          <a:p>
            <a:pPr>
              <a:lnSpc>
                <a:spcPct val="100000"/>
              </a:lnSpc>
            </a:pPr>
            <a:r>
              <a:rPr lang="en-US" sz="1400">
                <a:ea typeface="+mn-lt"/>
                <a:cs typeface="+mn-lt"/>
              </a:rPr>
              <a:t>Document Processing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400">
                <a:ea typeface="+mn-lt"/>
                <a:cs typeface="+mn-lt"/>
              </a:rPr>
              <a:t>      │</a:t>
            </a:r>
            <a:endParaRPr lang="en-US" sz="1400"/>
          </a:p>
          <a:p>
            <a:pPr marL="0" indent="0">
              <a:lnSpc>
                <a:spcPct val="100000"/>
              </a:lnSpc>
              <a:buNone/>
            </a:pPr>
            <a:r>
              <a:rPr lang="en-US" sz="1400">
                <a:ea typeface="+mn-lt"/>
                <a:cs typeface="+mn-lt"/>
              </a:rPr>
              <a:t>      ▼</a:t>
            </a:r>
          </a:p>
          <a:p>
            <a:pPr>
              <a:lnSpc>
                <a:spcPct val="100000"/>
              </a:lnSpc>
            </a:pPr>
            <a:r>
              <a:rPr lang="en-US" sz="1400">
                <a:ea typeface="+mn-lt"/>
                <a:cs typeface="+mn-lt"/>
              </a:rPr>
              <a:t>Searchable Knowledge Base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400">
                <a:ea typeface="+mn-lt"/>
                <a:cs typeface="+mn-lt"/>
              </a:rPr>
              <a:t>      │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400">
                <a:ea typeface="+mn-lt"/>
                <a:cs typeface="+mn-lt"/>
              </a:rPr>
              <a:t>      ▼</a:t>
            </a:r>
          </a:p>
          <a:p>
            <a:pPr>
              <a:lnSpc>
                <a:spcPct val="100000"/>
              </a:lnSpc>
            </a:pPr>
            <a:r>
              <a:rPr lang="en-US" sz="1400">
                <a:ea typeface="+mn-lt"/>
                <a:cs typeface="+mn-lt"/>
              </a:rPr>
              <a:t>Retrieve Relevant Content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400">
                <a:ea typeface="+mn-lt"/>
                <a:cs typeface="+mn-lt"/>
              </a:rPr>
              <a:t>      │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400">
                <a:ea typeface="+mn-lt"/>
                <a:cs typeface="+mn-lt"/>
              </a:rPr>
              <a:t>   ▼</a:t>
            </a:r>
          </a:p>
          <a:p>
            <a:pPr>
              <a:lnSpc>
                <a:spcPct val="100000"/>
              </a:lnSpc>
            </a:pPr>
            <a:r>
              <a:rPr lang="en-US" sz="1400">
                <a:ea typeface="+mn-lt"/>
                <a:cs typeface="+mn-lt"/>
              </a:rPr>
              <a:t>Generative AI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400">
                <a:ea typeface="+mn-lt"/>
                <a:cs typeface="+mn-lt"/>
              </a:rPr>
              <a:t>       │</a:t>
            </a:r>
            <a:endParaRPr lang="en-US" sz="1400"/>
          </a:p>
          <a:p>
            <a:pPr marL="0" indent="0">
              <a:lnSpc>
                <a:spcPct val="100000"/>
              </a:lnSpc>
              <a:buNone/>
            </a:pPr>
            <a:r>
              <a:rPr lang="en-US" sz="1400">
                <a:ea typeface="+mn-lt"/>
                <a:cs typeface="+mn-lt"/>
              </a:rPr>
              <a:t>       ▼</a:t>
            </a:r>
          </a:p>
          <a:p>
            <a:pPr>
              <a:lnSpc>
                <a:spcPct val="100000"/>
              </a:lnSpc>
            </a:pPr>
            <a:r>
              <a:rPr lang="en-US" sz="1400">
                <a:ea typeface="+mn-lt"/>
                <a:cs typeface="+mn-lt"/>
              </a:rPr>
              <a:t>Evidence-Based Response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AFF0B6C-73E2-4B40-9280-938C14922C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4223541" y="723900"/>
            <a:ext cx="15948" cy="54500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67187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A8B0E-81A0-B265-F152-DB29BD12C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  <a:p>
            <a:r>
              <a:rPr lang="en-US"/>
              <a:t>Key Features </a:t>
            </a:r>
          </a:p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A12D8AB-9916-A987-ACF0-39FBC212253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00635" y="2534956"/>
          <a:ext cx="10691265" cy="34269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793468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AA0E6D-D421-0071-EF0D-07C3BDEFE0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8656" y="914400"/>
            <a:ext cx="6236208" cy="1307592"/>
          </a:xfrm>
        </p:spPr>
        <p:txBody>
          <a:bodyPr>
            <a:normAutofit/>
          </a:bodyPr>
          <a:lstStyle/>
          <a:p>
            <a:r>
              <a:rPr lang="en-US">
                <a:ea typeface="+mj-lt"/>
                <a:cs typeface="+mj-lt"/>
              </a:rPr>
              <a:t>Technology Stack</a:t>
            </a: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C4AE79-0776-A69E-6DF8-63EF7D3E519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738" r="47011" b="-2"/>
          <a:stretch>
            <a:fillRect/>
          </a:stretch>
        </p:blipFill>
        <p:spPr>
          <a:xfrm>
            <a:off x="20" y="-1"/>
            <a:ext cx="4663420" cy="6858001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346871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0C16A2-1051-629C-7637-38D93F3AF8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48656" y="2221992"/>
            <a:ext cx="6236208" cy="394106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err="1">
                <a:ea typeface="+mn-lt"/>
                <a:cs typeface="+mn-lt"/>
              </a:rPr>
              <a:t>Streamlit</a:t>
            </a:r>
            <a:r>
              <a:rPr lang="en-US">
                <a:ea typeface="+mn-lt"/>
                <a:cs typeface="+mn-lt"/>
              </a:rPr>
              <a:t> </a:t>
            </a:r>
            <a:endParaRPr lang="en-US"/>
          </a:p>
          <a:p>
            <a:r>
              <a:rPr lang="en-US" err="1">
                <a:ea typeface="+mn-lt"/>
                <a:cs typeface="+mn-lt"/>
              </a:rPr>
              <a:t>LangChain</a:t>
            </a:r>
            <a:r>
              <a:rPr lang="en-US">
                <a:ea typeface="+mn-lt"/>
                <a:cs typeface="+mn-lt"/>
              </a:rPr>
              <a:t> </a:t>
            </a:r>
            <a:endParaRPr lang="en-US"/>
          </a:p>
          <a:p>
            <a:r>
              <a:rPr lang="en-US" err="1">
                <a:ea typeface="+mn-lt"/>
                <a:cs typeface="+mn-lt"/>
              </a:rPr>
              <a:t>ChromaDB</a:t>
            </a:r>
            <a:r>
              <a:rPr lang="en-US">
                <a:ea typeface="+mn-lt"/>
                <a:cs typeface="+mn-lt"/>
              </a:rPr>
              <a:t>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Google Gemini </a:t>
            </a:r>
            <a:endParaRPr lang="en-US"/>
          </a:p>
          <a:p>
            <a:r>
              <a:rPr lang="en-US" err="1">
                <a:ea typeface="+mn-lt"/>
                <a:cs typeface="+mn-lt"/>
              </a:rPr>
              <a:t>PyMuPDF</a:t>
            </a:r>
            <a:r>
              <a:rPr lang="en-US">
                <a:ea typeface="+mn-lt"/>
                <a:cs typeface="+mn-lt"/>
              </a:rPr>
              <a:t>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Sentence Transformers</a:t>
            </a:r>
            <a:endParaRPr lang="en-US"/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3033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F710FDB-0919-493E-8539-8240C23F1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D74B7E-4468-5C98-935E-1DA6DD4AE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05256"/>
            <a:ext cx="2834979" cy="5218679"/>
          </a:xfrm>
        </p:spPr>
        <p:txBody>
          <a:bodyPr>
            <a:normAutofit/>
          </a:bodyPr>
          <a:lstStyle/>
          <a:p>
            <a:r>
              <a:rPr lang="en-US" sz="2700"/>
              <a:t>Live Demonstration</a:t>
            </a:r>
          </a:p>
          <a:p>
            <a:endParaRPr lang="en-US" sz="27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6163E3-C9B4-E545-2C83-F8CE11231D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43866" y="905256"/>
            <a:ext cx="7644046" cy="5256243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endParaRPr lang="en-US"/>
          </a:p>
          <a:p>
            <a:pPr marL="0" indent="0">
              <a:lnSpc>
                <a:spcPct val="100000"/>
              </a:lnSpc>
              <a:buNone/>
            </a:pPr>
            <a:r>
              <a:rPr lang="en-US">
                <a:ea typeface="+mn-lt"/>
                <a:cs typeface="+mn-lt"/>
              </a:rPr>
              <a:t>Upload healthcare policy </a:t>
            </a:r>
            <a:endParaRPr lang="en-US"/>
          </a:p>
          <a:p>
            <a:pPr marL="0" indent="0">
              <a:lnSpc>
                <a:spcPct val="100000"/>
              </a:lnSpc>
              <a:buNone/>
            </a:pPr>
            <a:r>
              <a:rPr lang="en-US">
                <a:ea typeface="+mn-lt"/>
                <a:cs typeface="+mn-lt"/>
              </a:rPr>
              <a:t>  ↓</a:t>
            </a:r>
            <a:endParaRPr lang="en-US"/>
          </a:p>
          <a:p>
            <a:pPr marL="0" indent="0">
              <a:lnSpc>
                <a:spcPct val="100000"/>
              </a:lnSpc>
              <a:buNone/>
            </a:pPr>
            <a:r>
              <a:rPr lang="en-US">
                <a:ea typeface="+mn-lt"/>
                <a:cs typeface="+mn-lt"/>
              </a:rPr>
              <a:t>Ask a question </a:t>
            </a:r>
            <a:endParaRPr lang="en-US"/>
          </a:p>
          <a:p>
            <a:pPr marL="0" indent="0">
              <a:lnSpc>
                <a:spcPct val="100000"/>
              </a:lnSpc>
              <a:buNone/>
            </a:pPr>
            <a:r>
              <a:rPr lang="en-US">
                <a:ea typeface="+mn-lt"/>
                <a:cs typeface="+mn-lt"/>
              </a:rPr>
              <a:t>  ↓</a:t>
            </a:r>
            <a:endParaRPr lang="en-US"/>
          </a:p>
          <a:p>
            <a:pPr marL="0" indent="0">
              <a:lnSpc>
                <a:spcPct val="100000"/>
              </a:lnSpc>
              <a:buNone/>
            </a:pPr>
            <a:r>
              <a:rPr lang="en-US">
                <a:ea typeface="+mn-lt"/>
                <a:cs typeface="+mn-lt"/>
              </a:rPr>
              <a:t>AI retrieves relevant information </a:t>
            </a:r>
            <a:endParaRPr lang="en-US"/>
          </a:p>
          <a:p>
            <a:pPr marL="0" indent="0">
              <a:lnSpc>
                <a:spcPct val="100000"/>
              </a:lnSpc>
              <a:buNone/>
            </a:pPr>
            <a:r>
              <a:rPr lang="en-US">
                <a:ea typeface="+mn-lt"/>
                <a:cs typeface="+mn-lt"/>
              </a:rPr>
              <a:t>  ↓</a:t>
            </a:r>
            <a:endParaRPr lang="en-US"/>
          </a:p>
          <a:p>
            <a:pPr marL="0" indent="0">
              <a:lnSpc>
                <a:spcPct val="100000"/>
              </a:lnSpc>
              <a:buNone/>
            </a:pPr>
            <a:r>
              <a:rPr lang="en-US">
                <a:ea typeface="+mn-lt"/>
                <a:cs typeface="+mn-lt"/>
              </a:rPr>
              <a:t>Generate answer with evidence </a:t>
            </a:r>
            <a:endParaRPr lang="en-US"/>
          </a:p>
          <a:p>
            <a:pPr marL="0" indent="0">
              <a:lnSpc>
                <a:spcPct val="100000"/>
              </a:lnSpc>
              <a:buNone/>
            </a:pPr>
            <a:r>
              <a:rPr lang="en-US">
                <a:ea typeface="+mn-lt"/>
                <a:cs typeface="+mn-lt"/>
              </a:rPr>
              <a:t>  ↓</a:t>
            </a:r>
            <a:endParaRPr lang="en-US"/>
          </a:p>
          <a:p>
            <a:pPr marL="0" indent="0">
              <a:lnSpc>
                <a:spcPct val="100000"/>
              </a:lnSpc>
              <a:buNone/>
            </a:pPr>
            <a:r>
              <a:rPr lang="en-US">
                <a:ea typeface="+mn-lt"/>
                <a:cs typeface="+mn-lt"/>
              </a:rPr>
              <a:t>Compare two policies </a:t>
            </a:r>
            <a:endParaRPr lang="en-US"/>
          </a:p>
          <a:p>
            <a:pPr marL="0" indent="0">
              <a:lnSpc>
                <a:spcPct val="100000"/>
              </a:lnSpc>
              <a:buNone/>
            </a:pPr>
            <a:r>
              <a:rPr lang="en-US">
                <a:ea typeface="+mn-lt"/>
                <a:cs typeface="+mn-lt"/>
              </a:rPr>
              <a:t>  ↓</a:t>
            </a:r>
            <a:endParaRPr lang="en-US"/>
          </a:p>
          <a:p>
            <a:pPr marL="0" indent="0">
              <a:lnSpc>
                <a:spcPct val="100000"/>
              </a:lnSpc>
              <a:buNone/>
            </a:pPr>
            <a:r>
              <a:rPr lang="en-US">
                <a:ea typeface="+mn-lt"/>
                <a:cs typeface="+mn-lt"/>
              </a:rPr>
              <a:t>Extract healthcare rules </a:t>
            </a:r>
            <a:endParaRPr lang="en-US"/>
          </a:p>
          <a:p>
            <a:pPr marL="0" indent="0">
              <a:lnSpc>
                <a:spcPct val="100000"/>
              </a:lnSpc>
              <a:buNone/>
            </a:pPr>
            <a:endParaRPr lang="en-US" i="1"/>
          </a:p>
          <a:p>
            <a:pPr>
              <a:lnSpc>
                <a:spcPct val="100000"/>
              </a:lnSpc>
            </a:pPr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33715A5-8048-453E-A44A-0F17BBB481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75344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7E2F7E-9BC6-02C3-997B-D50F98141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899024"/>
            <a:ext cx="3076032" cy="391494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Business Value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3716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911B9C22-9FF2-B4D0-7A43-0A73886B403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12382345"/>
              </p:ext>
            </p:extLst>
          </p:nvPr>
        </p:nvGraphicFramePr>
        <p:xfrm>
          <a:off x="4038600" y="1713359"/>
          <a:ext cx="7353299" cy="3431285"/>
        </p:xfrm>
        <a:graphic>
          <a:graphicData uri="http://schemas.openxmlformats.org/drawingml/2006/table">
            <a:tbl>
              <a:tblPr bandRow="1">
                <a:solidFill>
                  <a:srgbClr val="F2F2F2">
                    <a:alpha val="30196"/>
                  </a:srgbClr>
                </a:solidFill>
                <a:tableStyleId>{5C22544A-7EE6-4342-B048-85BDC9FD1C3A}</a:tableStyleId>
              </a:tblPr>
              <a:tblGrid>
                <a:gridCol w="3631342">
                  <a:extLst>
                    <a:ext uri="{9D8B030D-6E8A-4147-A177-3AD203B41FA5}">
                      <a16:colId xmlns:a16="http://schemas.microsoft.com/office/drawing/2014/main" val="3311200692"/>
                    </a:ext>
                  </a:extLst>
                </a:gridCol>
                <a:gridCol w="3721957">
                  <a:extLst>
                    <a:ext uri="{9D8B030D-6E8A-4147-A177-3AD203B41FA5}">
                      <a16:colId xmlns:a16="http://schemas.microsoft.com/office/drawing/2014/main" val="878300159"/>
                    </a:ext>
                  </a:extLst>
                </a:gridCol>
              </a:tblGrid>
              <a:tr h="6862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cap="none" spc="0">
                          <a:solidFill>
                            <a:schemeClr val="tx1"/>
                          </a:solidFill>
                        </a:rPr>
                        <a:t>Without AI</a:t>
                      </a:r>
                    </a:p>
                  </a:txBody>
                  <a:tcPr marL="188479" marR="144984" marT="144984" marB="144984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cap="none" spc="0">
                          <a:solidFill>
                            <a:schemeClr val="tx1"/>
                          </a:solidFill>
                        </a:rPr>
                        <a:t>With AI Assistant</a:t>
                      </a:r>
                    </a:p>
                  </a:txBody>
                  <a:tcPr marL="188479" marR="144984" marT="144984" marB="144984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7821184"/>
                  </a:ext>
                </a:extLst>
              </a:tr>
              <a:tr h="6862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cap="none" spc="0">
                          <a:solidFill>
                            <a:schemeClr val="tx1"/>
                          </a:solidFill>
                        </a:rPr>
                        <a:t>Manual review</a:t>
                      </a:r>
                    </a:p>
                  </a:txBody>
                  <a:tcPr marL="188479" marR="144984" marT="144984" marB="144984" anchor="ctr">
                    <a:lnL w="6350" cap="flat" cmpd="sng" algn="ctr">
                      <a:noFill/>
                      <a:prstDash val="solid"/>
                    </a:lnL>
                    <a:lnR w="6350" cap="flat" cmpd="sng" algn="ctr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cap="none" spc="0">
                          <a:solidFill>
                            <a:schemeClr val="tx1"/>
                          </a:solidFill>
                        </a:rPr>
                        <a:t>Faster search</a:t>
                      </a:r>
                    </a:p>
                  </a:txBody>
                  <a:tcPr marL="188479" marR="144984" marT="144984" marB="144984" anchor="ctr">
                    <a:lnL w="6350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9254021"/>
                  </a:ext>
                </a:extLst>
              </a:tr>
              <a:tr h="6862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cap="none" spc="0">
                          <a:solidFill>
                            <a:schemeClr val="tx1"/>
                          </a:solidFill>
                        </a:rPr>
                        <a:t>Read hundreds of pages</a:t>
                      </a:r>
                    </a:p>
                  </a:txBody>
                  <a:tcPr marL="188479" marR="144984" marT="144984" marB="144984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cap="none" spc="0">
                          <a:solidFill>
                            <a:schemeClr val="tx1"/>
                          </a:solidFill>
                        </a:rPr>
                        <a:t>Automatic summaries</a:t>
                      </a:r>
                    </a:p>
                  </a:txBody>
                  <a:tcPr marL="188479" marR="144984" marT="144984" marB="144984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8106047"/>
                  </a:ext>
                </a:extLst>
              </a:tr>
              <a:tr h="6862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cap="none" spc="0">
                          <a:solidFill>
                            <a:schemeClr val="tx1"/>
                          </a:solidFill>
                        </a:rPr>
                        <a:t>Manual comparison</a:t>
                      </a:r>
                    </a:p>
                  </a:txBody>
                  <a:tcPr marL="188479" marR="144984" marT="144984" marB="144984" anchor="ctr">
                    <a:lnL w="6350" cap="flat" cmpd="sng" algn="ctr">
                      <a:noFill/>
                      <a:prstDash val="solid"/>
                    </a:lnL>
                    <a:lnR w="6350" cap="flat" cmpd="sng" algn="ctr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cap="none" spc="0">
                          <a:solidFill>
                            <a:schemeClr val="tx1"/>
                          </a:solidFill>
                        </a:rPr>
                        <a:t>Instant comparison</a:t>
                      </a:r>
                    </a:p>
                  </a:txBody>
                  <a:tcPr marL="188479" marR="144984" marT="144984" marB="144984" anchor="ctr">
                    <a:lnL w="6350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83093"/>
                  </a:ext>
                </a:extLst>
              </a:tr>
              <a:tr h="6862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cap="none" spc="0">
                          <a:solidFill>
                            <a:schemeClr val="tx1"/>
                          </a:solidFill>
                        </a:rPr>
                        <a:t>Difficult rule identification</a:t>
                      </a:r>
                    </a:p>
                  </a:txBody>
                  <a:tcPr marL="188479" marR="144984" marT="144984" marB="144984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cap="none" spc="0">
                          <a:solidFill>
                            <a:schemeClr val="tx1"/>
                          </a:solidFill>
                        </a:rPr>
                        <a:t>Automated rule extraction</a:t>
                      </a:r>
                    </a:p>
                  </a:txBody>
                  <a:tcPr marL="188479" marR="144984" marT="144984" marB="144984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56731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732911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D9AB5-5D7C-D440-1AFB-078D8F00A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Conclusion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53AE50-9151-BC9B-3A27-A512CD61AA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419171"/>
            <a:ext cx="10691265" cy="454271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/>
          </a:p>
          <a:p>
            <a:r>
              <a:rPr lang="en-US" b="1">
                <a:ea typeface="+mn-lt"/>
                <a:cs typeface="+mn-lt"/>
              </a:rPr>
              <a:t>Healthcare Content Management Assistant</a:t>
            </a:r>
            <a:endParaRPr lang="en-US"/>
          </a:p>
          <a:p>
            <a:r>
              <a:rPr lang="en-US">
                <a:ea typeface="+mn-lt"/>
                <a:cs typeface="+mn-lt"/>
              </a:rPr>
              <a:t>AI-powered document understanding </a:t>
            </a:r>
          </a:p>
          <a:p>
            <a:r>
              <a:rPr lang="en-US">
                <a:ea typeface="+mn-lt"/>
                <a:cs typeface="+mn-lt"/>
              </a:rPr>
              <a:t>Evidence-based question answering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Policy comparison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Rule extraction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Improved productivity</a:t>
            </a:r>
            <a:endParaRPr lang="en-US"/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3889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660EB578-C970-4186-B93C-45851BBC6E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F86311-D903-7700-B36B-30C27677E7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6968" y="914400"/>
            <a:ext cx="6627924" cy="1307592"/>
          </a:xfrm>
        </p:spPr>
        <p:txBody>
          <a:bodyPr>
            <a:normAutofit/>
          </a:bodyPr>
          <a:lstStyle/>
          <a:p>
            <a:r>
              <a:rPr lang="en-US"/>
              <a:t>Thank you!</a:t>
            </a:r>
          </a:p>
        </p:txBody>
      </p:sp>
      <p:pic>
        <p:nvPicPr>
          <p:cNvPr id="19" name="Picture 18" descr="Colorful envelopes">
            <a:extLst>
              <a:ext uri="{FF2B5EF4-FFF2-40B4-BE49-F238E27FC236}">
                <a16:creationId xmlns:a16="http://schemas.microsoft.com/office/drawing/2014/main" id="{0B727D2D-E2FF-982F-4BA9-22B2736AEED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907" r="33262" b="1"/>
          <a:stretch>
            <a:fillRect/>
          </a:stretch>
        </p:blipFill>
        <p:spPr>
          <a:xfrm>
            <a:off x="20" y="-17929"/>
            <a:ext cx="4206220" cy="6875929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DF57B02-07BB-407B-BB36-06D9C64A6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17665" y="722376"/>
            <a:ext cx="6476356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2FD3F696-9381-FF2D-C96B-5963CA5AB2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66968" y="2221992"/>
            <a:ext cx="6627924" cy="3739896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Questions?</a:t>
            </a:r>
            <a:endParaRPr lang="en-US"/>
          </a:p>
          <a:p>
            <a:r>
              <a:rPr lang="en-US">
                <a:ea typeface="+mn-lt"/>
                <a:cs typeface="+mn-lt"/>
              </a:rPr>
              <a:t>Email: deepakhadka500@gmail.com</a:t>
            </a:r>
            <a:endParaRPr lang="en-US"/>
          </a:p>
          <a:p>
            <a:pPr marL="0" indent="0">
              <a:buNone/>
            </a:pPr>
            <a:endParaRPr lang="en-US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6855964-C920-48EB-8804-74291211C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17665" y="6144768"/>
            <a:ext cx="647635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6825581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10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ChronicleVTI</vt:lpstr>
      <vt:lpstr>Improving Healthcare Content Management Using Generative AI</vt:lpstr>
      <vt:lpstr>Problem Statement</vt:lpstr>
      <vt:lpstr>Why Generative AI and RAG? </vt:lpstr>
      <vt:lpstr>Solution Architecture</vt:lpstr>
      <vt:lpstr> Key Features  </vt:lpstr>
      <vt:lpstr>Technology Stack</vt:lpstr>
      <vt:lpstr>Live Demonstration </vt:lpstr>
      <vt:lpstr>Business Value</vt:lpstr>
      <vt:lpstr>Conclusion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15</cp:revision>
  <dcterms:created xsi:type="dcterms:W3CDTF">2026-07-20T19:03:13Z</dcterms:created>
  <dcterms:modified xsi:type="dcterms:W3CDTF">2026-07-21T22:52:40Z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8c3cc9c-d660-41a9-8502-9ce659b5a1a4_Enabled">
    <vt:lpwstr>true</vt:lpwstr>
  </property>
  <property fmtid="{D5CDD505-2E9C-101B-9397-08002B2CF9AE}" pid="3" name="MSIP_Label_88c3cc9c-d660-41a9-8502-9ce659b5a1a4_SetDate">
    <vt:lpwstr>2026-07-20T19:03:18Z</vt:lpwstr>
  </property>
  <property fmtid="{D5CDD505-2E9C-101B-9397-08002B2CF9AE}" pid="4" name="MSIP_Label_88c3cc9c-d660-41a9-8502-9ce659b5a1a4_Method">
    <vt:lpwstr>Standard</vt:lpwstr>
  </property>
  <property fmtid="{D5CDD505-2E9C-101B-9397-08002B2CF9AE}" pid="5" name="MSIP_Label_88c3cc9c-d660-41a9-8502-9ce659b5a1a4_Name">
    <vt:lpwstr>defa4170-0d19-0005-0004-bc88714345d2</vt:lpwstr>
  </property>
  <property fmtid="{D5CDD505-2E9C-101B-9397-08002B2CF9AE}" pid="6" name="MSIP_Label_88c3cc9c-d660-41a9-8502-9ce659b5a1a4_SiteId">
    <vt:lpwstr>3c71cbab-b5ed-4f3b-ac0d-95509d6c0e93</vt:lpwstr>
  </property>
  <property fmtid="{D5CDD505-2E9C-101B-9397-08002B2CF9AE}" pid="7" name="MSIP_Label_88c3cc9c-d660-41a9-8502-9ce659b5a1a4_ActionId">
    <vt:lpwstr>933d27de-4c5a-4899-a689-b409730aef8e</vt:lpwstr>
  </property>
  <property fmtid="{D5CDD505-2E9C-101B-9397-08002B2CF9AE}" pid="8" name="MSIP_Label_88c3cc9c-d660-41a9-8502-9ce659b5a1a4_ContentBits">
    <vt:lpwstr>0</vt:lpwstr>
  </property>
  <property fmtid="{D5CDD505-2E9C-101B-9397-08002B2CF9AE}" pid="9" name="MSIP_Label_88c3cc9c-d660-41a9-8502-9ce659b5a1a4_Tag">
    <vt:lpwstr>10, 3, 0, 2</vt:lpwstr>
  </property>
</Properties>
</file>